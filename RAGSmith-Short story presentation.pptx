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" charset="1" panose="00000500000000000000"/>
      <p:regular r:id="rId16"/>
    </p:embeddedFont>
    <p:embeddedFont>
      <p:font typeface="Poppins Bold" charset="1" panose="00000800000000000000"/>
      <p:regular r:id="rId17"/>
    </p:embeddedFont>
    <p:embeddedFont>
      <p:font typeface="Poppins Italics" charset="1" panose="00000500000000000000"/>
      <p:regular r:id="rId18"/>
    </p:embeddedFont>
    <p:embeddedFont>
      <p:font typeface="Canva Sans Bold" charset="1" panose="020B08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arxiv.org/pdf/2511.01386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818509">
            <a:off x="13720299" y="-344921"/>
            <a:ext cx="18079120" cy="16256135"/>
            <a:chOff x="0" y="0"/>
            <a:chExt cx="4761579" cy="42814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61579" cy="4281451"/>
            </a:xfrm>
            <a:custGeom>
              <a:avLst/>
              <a:gdLst/>
              <a:ahLst/>
              <a:cxnLst/>
              <a:rect r="r" b="b" t="t" l="l"/>
              <a:pathLst>
                <a:path h="4281451" w="4761579">
                  <a:moveTo>
                    <a:pt x="0" y="0"/>
                  </a:moveTo>
                  <a:lnTo>
                    <a:pt x="4761579" y="0"/>
                  </a:lnTo>
                  <a:lnTo>
                    <a:pt x="4761579" y="4281451"/>
                  </a:lnTo>
                  <a:lnTo>
                    <a:pt x="0" y="428145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61579" cy="4319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3605793">
            <a:off x="14284310" y="62775"/>
            <a:ext cx="18079120" cy="16256135"/>
            <a:chOff x="0" y="0"/>
            <a:chExt cx="4761579" cy="42814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61579" cy="4281451"/>
            </a:xfrm>
            <a:custGeom>
              <a:avLst/>
              <a:gdLst/>
              <a:ahLst/>
              <a:cxnLst/>
              <a:rect r="r" b="b" t="t" l="l"/>
              <a:pathLst>
                <a:path h="4281451" w="4761579">
                  <a:moveTo>
                    <a:pt x="0" y="0"/>
                  </a:moveTo>
                  <a:lnTo>
                    <a:pt x="4761579" y="0"/>
                  </a:lnTo>
                  <a:lnTo>
                    <a:pt x="4761579" y="4281451"/>
                  </a:lnTo>
                  <a:lnTo>
                    <a:pt x="0" y="4281451"/>
                  </a:lnTo>
                  <a:close/>
                </a:path>
              </a:pathLst>
            </a:custGeom>
            <a:solidFill>
              <a:srgbClr val="FEB5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761579" cy="4319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5798849" y="1891259"/>
            <a:ext cx="18079120" cy="16256135"/>
            <a:chOff x="0" y="0"/>
            <a:chExt cx="4761579" cy="42814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61579" cy="4281451"/>
            </a:xfrm>
            <a:custGeom>
              <a:avLst/>
              <a:gdLst/>
              <a:ahLst/>
              <a:cxnLst/>
              <a:rect r="r" b="b" t="t" l="l"/>
              <a:pathLst>
                <a:path h="4281451" w="4761579">
                  <a:moveTo>
                    <a:pt x="0" y="0"/>
                  </a:moveTo>
                  <a:lnTo>
                    <a:pt x="4761579" y="0"/>
                  </a:lnTo>
                  <a:lnTo>
                    <a:pt x="4761579" y="4281451"/>
                  </a:lnTo>
                  <a:lnTo>
                    <a:pt x="0" y="4281451"/>
                  </a:lnTo>
                  <a:close/>
                </a:path>
              </a:pathLst>
            </a:custGeom>
            <a:solidFill>
              <a:srgbClr val="F59E0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761579" cy="4319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815519">
            <a:off x="16134907" y="4795496"/>
            <a:ext cx="18079120" cy="16256135"/>
            <a:chOff x="0" y="0"/>
            <a:chExt cx="4761579" cy="42814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61579" cy="4281451"/>
            </a:xfrm>
            <a:custGeom>
              <a:avLst/>
              <a:gdLst/>
              <a:ahLst/>
              <a:cxnLst/>
              <a:rect r="r" b="b" t="t" l="l"/>
              <a:pathLst>
                <a:path h="4281451" w="4761579">
                  <a:moveTo>
                    <a:pt x="0" y="0"/>
                  </a:moveTo>
                  <a:lnTo>
                    <a:pt x="4761579" y="0"/>
                  </a:lnTo>
                  <a:lnTo>
                    <a:pt x="4761579" y="4281451"/>
                  </a:lnTo>
                  <a:lnTo>
                    <a:pt x="0" y="4281451"/>
                  </a:lnTo>
                  <a:close/>
                </a:path>
              </a:pathLst>
            </a:custGeom>
            <a:solidFill>
              <a:srgbClr val="F2850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761579" cy="4319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699064" y="3369306"/>
            <a:ext cx="5044388" cy="504438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850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6702" lIns="56702" bIns="56702" rIns="56702"/>
            <a:lstStyle/>
            <a:p>
              <a:pPr algn="ctr">
                <a:lnSpc>
                  <a:spcPts val="296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911506" y="3581749"/>
            <a:ext cx="4619503" cy="461950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B5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6702" lIns="56702" bIns="56702" rIns="56702"/>
            <a:lstStyle/>
            <a:p>
              <a:pPr algn="ctr">
                <a:lnSpc>
                  <a:spcPts val="2969"/>
                </a:lnSpc>
              </a:pPr>
            </a:p>
          </p:txBody>
        </p:sp>
      </p:grp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13118747" y="3788998"/>
            <a:ext cx="4205022" cy="4205005"/>
            <a:chOff x="0" y="0"/>
            <a:chExt cx="6350000" cy="634997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72276" t="-28325" r="-28544" b="-5677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28700" y="1495774"/>
            <a:ext cx="5611314" cy="1330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74"/>
              </a:lnSpc>
            </a:pPr>
            <a:r>
              <a:rPr lang="en-US" sz="8499" spc="16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RAGsmith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4425033"/>
            <a:ext cx="10742637" cy="119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Paper reference: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RAGSmith: A Framework for Finding the Optimal Composition of Retrieval-Augmented Generation Methods Across Datasets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7237829"/>
            <a:ext cx="5611314" cy="1436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2"/>
              </a:lnSpc>
            </a:pPr>
            <a:r>
              <a:rPr lang="en-US" sz="270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Aniket Anil Naik</a:t>
            </a:r>
          </a:p>
          <a:p>
            <a:pPr algn="l">
              <a:lnSpc>
                <a:spcPts val="3792"/>
              </a:lnSpc>
            </a:pPr>
            <a:r>
              <a:rPr lang="en-US" sz="270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019107114</a:t>
            </a:r>
          </a:p>
          <a:p>
            <a:pPr algn="l">
              <a:lnSpc>
                <a:spcPts val="3792"/>
              </a:lnSpc>
              <a:spcBef>
                <a:spcPct val="0"/>
              </a:spcBef>
            </a:pPr>
            <a:r>
              <a:rPr lang="en-US" sz="270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CMPE 255 - Data Mining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6797993"/>
            <a:ext cx="4547754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Presented by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2807049"/>
            <a:ext cx="10168877" cy="77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0"/>
              </a:lnSpc>
            </a:pPr>
            <a:r>
              <a:rPr lang="en-US" sz="5000" spc="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Evolving the Perfect AI Pipeline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5581963"/>
            <a:ext cx="10742637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u="sng">
                <a:solidFill>
                  <a:srgbClr val="1800AD"/>
                </a:solidFill>
                <a:latin typeface="Poppins"/>
                <a:ea typeface="Poppins"/>
                <a:cs typeface="Poppins"/>
                <a:sym typeface="Poppins"/>
                <a:hlinkClick r:id="rId3" tooltip="https://arxiv.org/pdf/2511.01386"/>
              </a:rPr>
              <a:t>Paper link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130386">
            <a:off x="-8725851" y="7797779"/>
            <a:ext cx="11257445" cy="10122315"/>
            <a:chOff x="0" y="0"/>
            <a:chExt cx="4761579" cy="42814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61579" cy="4281451"/>
            </a:xfrm>
            <a:custGeom>
              <a:avLst/>
              <a:gdLst/>
              <a:ahLst/>
              <a:cxnLst/>
              <a:rect r="r" b="b" t="t" l="l"/>
              <a:pathLst>
                <a:path h="4281451" w="4761579">
                  <a:moveTo>
                    <a:pt x="0" y="0"/>
                  </a:moveTo>
                  <a:lnTo>
                    <a:pt x="4761579" y="0"/>
                  </a:lnTo>
                  <a:lnTo>
                    <a:pt x="4761579" y="4281451"/>
                  </a:lnTo>
                  <a:lnTo>
                    <a:pt x="0" y="428145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761579" cy="4300501"/>
            </a:xfrm>
            <a:prstGeom prst="rect">
              <a:avLst/>
            </a:prstGeom>
          </p:spPr>
          <p:txBody>
            <a:bodyPr anchor="ctr" rtlCol="false" tIns="31632" lIns="31632" bIns="31632" rIns="31632"/>
            <a:lstStyle/>
            <a:p>
              <a:pPr algn="ctr">
                <a:lnSpc>
                  <a:spcPts val="16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343102">
            <a:off x="-9065727" y="7528949"/>
            <a:ext cx="11257445" cy="10122315"/>
            <a:chOff x="0" y="0"/>
            <a:chExt cx="4761579" cy="42814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61579" cy="4281451"/>
            </a:xfrm>
            <a:custGeom>
              <a:avLst/>
              <a:gdLst/>
              <a:ahLst/>
              <a:cxnLst/>
              <a:rect r="r" b="b" t="t" l="l"/>
              <a:pathLst>
                <a:path h="4281451" w="4761579">
                  <a:moveTo>
                    <a:pt x="0" y="0"/>
                  </a:moveTo>
                  <a:lnTo>
                    <a:pt x="4761579" y="0"/>
                  </a:lnTo>
                  <a:lnTo>
                    <a:pt x="4761579" y="4281451"/>
                  </a:lnTo>
                  <a:lnTo>
                    <a:pt x="0" y="4281451"/>
                  </a:lnTo>
                  <a:close/>
                </a:path>
              </a:pathLst>
            </a:custGeom>
            <a:solidFill>
              <a:srgbClr val="FEB5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4761579" cy="4300501"/>
            </a:xfrm>
            <a:prstGeom prst="rect">
              <a:avLst/>
            </a:prstGeom>
          </p:spPr>
          <p:txBody>
            <a:bodyPr anchor="ctr" rtlCol="false" tIns="31632" lIns="31632" bIns="31632" rIns="31632"/>
            <a:lstStyle/>
            <a:p>
              <a:pPr algn="ctr">
                <a:lnSpc>
                  <a:spcPts val="16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8248896">
            <a:off x="-10020289" y="6048953"/>
            <a:ext cx="11257445" cy="10122315"/>
            <a:chOff x="0" y="0"/>
            <a:chExt cx="4761579" cy="42814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61579" cy="4281451"/>
            </a:xfrm>
            <a:custGeom>
              <a:avLst/>
              <a:gdLst/>
              <a:ahLst/>
              <a:cxnLst/>
              <a:rect r="r" b="b" t="t" l="l"/>
              <a:pathLst>
                <a:path h="4281451" w="4761579">
                  <a:moveTo>
                    <a:pt x="0" y="0"/>
                  </a:moveTo>
                  <a:lnTo>
                    <a:pt x="4761579" y="0"/>
                  </a:lnTo>
                  <a:lnTo>
                    <a:pt x="4761579" y="4281451"/>
                  </a:lnTo>
                  <a:lnTo>
                    <a:pt x="0" y="4281451"/>
                  </a:lnTo>
                  <a:close/>
                </a:path>
              </a:pathLst>
            </a:custGeom>
            <a:solidFill>
              <a:srgbClr val="F59E0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4761579" cy="4300501"/>
            </a:xfrm>
            <a:prstGeom prst="rect">
              <a:avLst/>
            </a:prstGeom>
          </p:spPr>
          <p:txBody>
            <a:bodyPr anchor="ctr" rtlCol="false" tIns="31632" lIns="31632" bIns="31632" rIns="31632"/>
            <a:lstStyle/>
            <a:p>
              <a:pPr algn="ctr">
                <a:lnSpc>
                  <a:spcPts val="16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8100000">
            <a:off x="15778450" y="-4182422"/>
            <a:ext cx="3488619" cy="9480964"/>
            <a:chOff x="0" y="0"/>
            <a:chExt cx="703896" cy="19129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3896" cy="1912967"/>
            </a:xfrm>
            <a:custGeom>
              <a:avLst/>
              <a:gdLst/>
              <a:ahLst/>
              <a:cxnLst/>
              <a:rect r="r" b="b" t="t" l="l"/>
              <a:pathLst>
                <a:path h="1912967" w="703896">
                  <a:moveTo>
                    <a:pt x="0" y="0"/>
                  </a:moveTo>
                  <a:lnTo>
                    <a:pt x="703896" y="0"/>
                  </a:lnTo>
                  <a:lnTo>
                    <a:pt x="703896" y="1912967"/>
                  </a:lnTo>
                  <a:lnTo>
                    <a:pt x="0" y="1912967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703896" cy="1970117"/>
            </a:xfrm>
            <a:prstGeom prst="rect">
              <a:avLst/>
            </a:prstGeom>
          </p:spPr>
          <p:txBody>
            <a:bodyPr anchor="ctr" rtlCol="false" tIns="78621" lIns="78621" bIns="78621" rIns="78621"/>
            <a:lstStyle/>
            <a:p>
              <a:pPr algn="ctr">
                <a:lnSpc>
                  <a:spcPts val="4116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7183646">
            <a:off x="14905786" y="-3921008"/>
            <a:ext cx="3383200" cy="6526249"/>
            <a:chOff x="0" y="0"/>
            <a:chExt cx="682626" cy="13167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2626" cy="1316796"/>
            </a:xfrm>
            <a:custGeom>
              <a:avLst/>
              <a:gdLst/>
              <a:ahLst/>
              <a:cxnLst/>
              <a:rect r="r" b="b" t="t" l="l"/>
              <a:pathLst>
                <a:path h="1316796" w="68262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2850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682626" cy="1373946"/>
            </a:xfrm>
            <a:prstGeom prst="rect">
              <a:avLst/>
            </a:prstGeom>
          </p:spPr>
          <p:txBody>
            <a:bodyPr anchor="ctr" rtlCol="false" tIns="78621" lIns="78621" bIns="78621" rIns="78621"/>
            <a:lstStyle/>
            <a:p>
              <a:pPr algn="ctr">
                <a:lnSpc>
                  <a:spcPts val="4116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9000487">
            <a:off x="16949547" y="-1990293"/>
            <a:ext cx="3383200" cy="6526249"/>
            <a:chOff x="0" y="0"/>
            <a:chExt cx="682626" cy="13167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2626" cy="1316796"/>
            </a:xfrm>
            <a:custGeom>
              <a:avLst/>
              <a:gdLst/>
              <a:ahLst/>
              <a:cxnLst/>
              <a:rect r="r" b="b" t="t" l="l"/>
              <a:pathLst>
                <a:path h="1316796" w="68262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59E0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682626" cy="1373946"/>
            </a:xfrm>
            <a:prstGeom prst="rect">
              <a:avLst/>
            </a:prstGeom>
          </p:spPr>
          <p:txBody>
            <a:bodyPr anchor="ctr" rtlCol="false" tIns="78621" lIns="78621" bIns="78621" rIns="78621"/>
            <a:lstStyle/>
            <a:p>
              <a:pPr algn="ctr">
                <a:lnSpc>
                  <a:spcPts val="4116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2700000">
            <a:off x="15534560" y="-1565489"/>
            <a:ext cx="2434593" cy="2434593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EB5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78621" lIns="78621" bIns="78621" rIns="78621"/>
            <a:lstStyle/>
            <a:p>
              <a:pPr algn="ctr">
                <a:lnSpc>
                  <a:spcPts val="4116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1231990" y="2429192"/>
            <a:ext cx="5703274" cy="3628708"/>
          </a:xfrm>
          <a:custGeom>
            <a:avLst/>
            <a:gdLst/>
            <a:ahLst/>
            <a:cxnLst/>
            <a:rect r="r" b="b" t="t" l="l"/>
            <a:pathLst>
              <a:path h="3628708" w="5703274">
                <a:moveTo>
                  <a:pt x="0" y="0"/>
                </a:moveTo>
                <a:lnTo>
                  <a:pt x="5703273" y="0"/>
                </a:lnTo>
                <a:lnTo>
                  <a:pt x="5703273" y="3628708"/>
                </a:lnTo>
                <a:lnTo>
                  <a:pt x="0" y="36287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24" id="24"/>
          <p:cNvSpPr txBox="true"/>
          <p:nvPr/>
        </p:nvSpPr>
        <p:spPr>
          <a:xfrm rot="0">
            <a:off x="1028700" y="1230450"/>
            <a:ext cx="15352374" cy="93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  <a:spcBef>
                <a:spcPct val="0"/>
              </a:spcBef>
            </a:pPr>
            <a:r>
              <a:rPr lang="en-US" sz="5199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Problem: Optimization in Isolation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3514597"/>
            <a:ext cx="7237407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Step 1: Pick Best E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mbedder -&gt; </a:t>
            </a:r>
            <a:r>
              <a:rPr lang="en-US" sz="2499" spc="4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Result: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Good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2567333"/>
            <a:ext cx="7910190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Developers typically opti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mize 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AG compon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nt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in isolation.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4108386"/>
            <a:ext cx="7237407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Step 2: Select top R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eranker. -&gt; </a:t>
            </a:r>
            <a:r>
              <a:rPr lang="en-US" sz="2499" spc="4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Result: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Good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4702175"/>
            <a:ext cx="9776621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Step 3: Chain the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 together -&gt; </a:t>
            </a:r>
            <a:r>
              <a:rPr lang="en-US" sz="2499" spc="4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Result: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Failure/Suboptimal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6319949"/>
            <a:ext cx="13584376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Example: Complex 'Query Expansion' + 'K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eyword Search' = High Noise.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Example: 'Dense Retrieval' + 'Law Documents' ≠ 'Dense Retrieval' + 'Math Proofs'.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700" y="5803900"/>
            <a:ext cx="8691487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Failure Mod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e: Compon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nt Interaction Mismatch.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54864" y="7682024"/>
            <a:ext cx="15178271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 Result: Sub-optimal pipelin</a:t>
            </a:r>
            <a:r>
              <a:rPr lang="en-US" b="true" sz="2499" spc="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 that fail to</a:t>
            </a:r>
            <a:r>
              <a:rPr lang="en-US" b="true" sz="2499" spc="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generalize across different data domains.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130386">
            <a:off x="-8725851" y="7797779"/>
            <a:ext cx="11257445" cy="10122315"/>
            <a:chOff x="0" y="0"/>
            <a:chExt cx="4761579" cy="42814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61579" cy="4281451"/>
            </a:xfrm>
            <a:custGeom>
              <a:avLst/>
              <a:gdLst/>
              <a:ahLst/>
              <a:cxnLst/>
              <a:rect r="r" b="b" t="t" l="l"/>
              <a:pathLst>
                <a:path h="4281451" w="4761579">
                  <a:moveTo>
                    <a:pt x="0" y="0"/>
                  </a:moveTo>
                  <a:lnTo>
                    <a:pt x="4761579" y="0"/>
                  </a:lnTo>
                  <a:lnTo>
                    <a:pt x="4761579" y="4281451"/>
                  </a:lnTo>
                  <a:lnTo>
                    <a:pt x="0" y="428145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761579" cy="4300501"/>
            </a:xfrm>
            <a:prstGeom prst="rect">
              <a:avLst/>
            </a:prstGeom>
          </p:spPr>
          <p:txBody>
            <a:bodyPr anchor="ctr" rtlCol="false" tIns="31632" lIns="31632" bIns="31632" rIns="31632"/>
            <a:lstStyle/>
            <a:p>
              <a:pPr algn="ctr">
                <a:lnSpc>
                  <a:spcPts val="16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343102">
            <a:off x="-9065727" y="7528949"/>
            <a:ext cx="11257445" cy="10122315"/>
            <a:chOff x="0" y="0"/>
            <a:chExt cx="4761579" cy="42814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61579" cy="4281451"/>
            </a:xfrm>
            <a:custGeom>
              <a:avLst/>
              <a:gdLst/>
              <a:ahLst/>
              <a:cxnLst/>
              <a:rect r="r" b="b" t="t" l="l"/>
              <a:pathLst>
                <a:path h="4281451" w="4761579">
                  <a:moveTo>
                    <a:pt x="0" y="0"/>
                  </a:moveTo>
                  <a:lnTo>
                    <a:pt x="4761579" y="0"/>
                  </a:lnTo>
                  <a:lnTo>
                    <a:pt x="4761579" y="4281451"/>
                  </a:lnTo>
                  <a:lnTo>
                    <a:pt x="0" y="4281451"/>
                  </a:lnTo>
                  <a:close/>
                </a:path>
              </a:pathLst>
            </a:custGeom>
            <a:solidFill>
              <a:srgbClr val="FEB5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4761579" cy="4300501"/>
            </a:xfrm>
            <a:prstGeom prst="rect">
              <a:avLst/>
            </a:prstGeom>
          </p:spPr>
          <p:txBody>
            <a:bodyPr anchor="ctr" rtlCol="false" tIns="31632" lIns="31632" bIns="31632" rIns="31632"/>
            <a:lstStyle/>
            <a:p>
              <a:pPr algn="ctr">
                <a:lnSpc>
                  <a:spcPts val="16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8248896">
            <a:off x="-10020289" y="6048953"/>
            <a:ext cx="11257445" cy="10122315"/>
            <a:chOff x="0" y="0"/>
            <a:chExt cx="4761579" cy="42814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61579" cy="4281451"/>
            </a:xfrm>
            <a:custGeom>
              <a:avLst/>
              <a:gdLst/>
              <a:ahLst/>
              <a:cxnLst/>
              <a:rect r="r" b="b" t="t" l="l"/>
              <a:pathLst>
                <a:path h="4281451" w="4761579">
                  <a:moveTo>
                    <a:pt x="0" y="0"/>
                  </a:moveTo>
                  <a:lnTo>
                    <a:pt x="4761579" y="0"/>
                  </a:lnTo>
                  <a:lnTo>
                    <a:pt x="4761579" y="4281451"/>
                  </a:lnTo>
                  <a:lnTo>
                    <a:pt x="0" y="4281451"/>
                  </a:lnTo>
                  <a:close/>
                </a:path>
              </a:pathLst>
            </a:custGeom>
            <a:solidFill>
              <a:srgbClr val="F59E0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4761579" cy="4300501"/>
            </a:xfrm>
            <a:prstGeom prst="rect">
              <a:avLst/>
            </a:prstGeom>
          </p:spPr>
          <p:txBody>
            <a:bodyPr anchor="ctr" rtlCol="false" tIns="31632" lIns="31632" bIns="31632" rIns="31632"/>
            <a:lstStyle/>
            <a:p>
              <a:pPr algn="ctr">
                <a:lnSpc>
                  <a:spcPts val="16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8100000">
            <a:off x="15778450" y="-4182422"/>
            <a:ext cx="3488619" cy="9480964"/>
            <a:chOff x="0" y="0"/>
            <a:chExt cx="703896" cy="19129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3896" cy="1912967"/>
            </a:xfrm>
            <a:custGeom>
              <a:avLst/>
              <a:gdLst/>
              <a:ahLst/>
              <a:cxnLst/>
              <a:rect r="r" b="b" t="t" l="l"/>
              <a:pathLst>
                <a:path h="1912967" w="703896">
                  <a:moveTo>
                    <a:pt x="0" y="0"/>
                  </a:moveTo>
                  <a:lnTo>
                    <a:pt x="703896" y="0"/>
                  </a:lnTo>
                  <a:lnTo>
                    <a:pt x="703896" y="1912967"/>
                  </a:lnTo>
                  <a:lnTo>
                    <a:pt x="0" y="1912967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703896" cy="1970117"/>
            </a:xfrm>
            <a:prstGeom prst="rect">
              <a:avLst/>
            </a:prstGeom>
          </p:spPr>
          <p:txBody>
            <a:bodyPr anchor="ctr" rtlCol="false" tIns="78621" lIns="78621" bIns="78621" rIns="78621"/>
            <a:lstStyle/>
            <a:p>
              <a:pPr algn="ctr">
                <a:lnSpc>
                  <a:spcPts val="4116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7183646">
            <a:off x="14905786" y="-3921008"/>
            <a:ext cx="3383200" cy="6526249"/>
            <a:chOff x="0" y="0"/>
            <a:chExt cx="682626" cy="13167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2626" cy="1316796"/>
            </a:xfrm>
            <a:custGeom>
              <a:avLst/>
              <a:gdLst/>
              <a:ahLst/>
              <a:cxnLst/>
              <a:rect r="r" b="b" t="t" l="l"/>
              <a:pathLst>
                <a:path h="1316796" w="68262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2850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682626" cy="1373946"/>
            </a:xfrm>
            <a:prstGeom prst="rect">
              <a:avLst/>
            </a:prstGeom>
          </p:spPr>
          <p:txBody>
            <a:bodyPr anchor="ctr" rtlCol="false" tIns="78621" lIns="78621" bIns="78621" rIns="78621"/>
            <a:lstStyle/>
            <a:p>
              <a:pPr algn="ctr">
                <a:lnSpc>
                  <a:spcPts val="4116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9000487">
            <a:off x="16949547" y="-1990293"/>
            <a:ext cx="3383200" cy="6526249"/>
            <a:chOff x="0" y="0"/>
            <a:chExt cx="682626" cy="13167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2626" cy="1316796"/>
            </a:xfrm>
            <a:custGeom>
              <a:avLst/>
              <a:gdLst/>
              <a:ahLst/>
              <a:cxnLst/>
              <a:rect r="r" b="b" t="t" l="l"/>
              <a:pathLst>
                <a:path h="1316796" w="68262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59E0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682626" cy="1373946"/>
            </a:xfrm>
            <a:prstGeom prst="rect">
              <a:avLst/>
            </a:prstGeom>
          </p:spPr>
          <p:txBody>
            <a:bodyPr anchor="ctr" rtlCol="false" tIns="78621" lIns="78621" bIns="78621" rIns="78621"/>
            <a:lstStyle/>
            <a:p>
              <a:pPr algn="ctr">
                <a:lnSpc>
                  <a:spcPts val="4116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2700000">
            <a:off x="15534560" y="-1565489"/>
            <a:ext cx="2434593" cy="2434593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EB5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78621" lIns="78621" bIns="78621" rIns="78621"/>
            <a:lstStyle/>
            <a:p>
              <a:pPr algn="ctr">
                <a:lnSpc>
                  <a:spcPts val="4116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28700" y="1494472"/>
            <a:ext cx="15352374" cy="93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  <a:spcBef>
                <a:spcPct val="0"/>
              </a:spcBef>
            </a:pPr>
            <a:r>
              <a:rPr lang="en-US" sz="5199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Solution: RAGSmith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2843683"/>
            <a:ext cx="14516198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4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 is RAGSmith?</a:t>
            </a:r>
          </a:p>
          <a:p>
            <a:pPr algn="l">
              <a:lnSpc>
                <a:spcPts val="3499"/>
              </a:lnSpc>
            </a:pP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 end-to-en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 framework using G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eneti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 Algorithms (GA) to discover optimal pipelines.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4816734"/>
            <a:ext cx="10019947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9 Modular Families (Pre-processing to Post-generation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46,080 T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otal Feasible Configura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4374073"/>
            <a:ext cx="1451619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4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 Se</a:t>
            </a:r>
            <a:r>
              <a:rPr lang="en-US" sz="2499" spc="4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arch Space: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6789784"/>
            <a:ext cx="16230600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Optimizes a scalar score combining Retrieval Metrics (Recall@K, mAP, NDCG) and Generation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Me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trics (LLM-Judge, Semantic Similari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ty)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6347124"/>
            <a:ext cx="1451619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4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 Obje</a:t>
            </a:r>
            <a:r>
              <a:rPr lang="en-US" sz="2499" spc="4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ctive Function: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885901" y="8209224"/>
            <a:ext cx="1451619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Why Evolu</a:t>
            </a:r>
            <a:r>
              <a:rPr lang="en-US" b="true" sz="2499" spc="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tion? It explores component synergy rather than individual excellence.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130386">
            <a:off x="-8725851" y="7797779"/>
            <a:ext cx="11257445" cy="10122315"/>
            <a:chOff x="0" y="0"/>
            <a:chExt cx="4761579" cy="42814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61579" cy="4281451"/>
            </a:xfrm>
            <a:custGeom>
              <a:avLst/>
              <a:gdLst/>
              <a:ahLst/>
              <a:cxnLst/>
              <a:rect r="r" b="b" t="t" l="l"/>
              <a:pathLst>
                <a:path h="4281451" w="4761579">
                  <a:moveTo>
                    <a:pt x="0" y="0"/>
                  </a:moveTo>
                  <a:lnTo>
                    <a:pt x="4761579" y="0"/>
                  </a:lnTo>
                  <a:lnTo>
                    <a:pt x="4761579" y="4281451"/>
                  </a:lnTo>
                  <a:lnTo>
                    <a:pt x="0" y="428145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761579" cy="4300501"/>
            </a:xfrm>
            <a:prstGeom prst="rect">
              <a:avLst/>
            </a:prstGeom>
          </p:spPr>
          <p:txBody>
            <a:bodyPr anchor="ctr" rtlCol="false" tIns="31632" lIns="31632" bIns="31632" rIns="31632"/>
            <a:lstStyle/>
            <a:p>
              <a:pPr algn="ctr">
                <a:lnSpc>
                  <a:spcPts val="16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343102">
            <a:off x="-9065727" y="7528949"/>
            <a:ext cx="11257445" cy="10122315"/>
            <a:chOff x="0" y="0"/>
            <a:chExt cx="4761579" cy="42814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61579" cy="4281451"/>
            </a:xfrm>
            <a:custGeom>
              <a:avLst/>
              <a:gdLst/>
              <a:ahLst/>
              <a:cxnLst/>
              <a:rect r="r" b="b" t="t" l="l"/>
              <a:pathLst>
                <a:path h="4281451" w="4761579">
                  <a:moveTo>
                    <a:pt x="0" y="0"/>
                  </a:moveTo>
                  <a:lnTo>
                    <a:pt x="4761579" y="0"/>
                  </a:lnTo>
                  <a:lnTo>
                    <a:pt x="4761579" y="4281451"/>
                  </a:lnTo>
                  <a:lnTo>
                    <a:pt x="0" y="4281451"/>
                  </a:lnTo>
                  <a:close/>
                </a:path>
              </a:pathLst>
            </a:custGeom>
            <a:solidFill>
              <a:srgbClr val="FEB5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4761579" cy="4300501"/>
            </a:xfrm>
            <a:prstGeom prst="rect">
              <a:avLst/>
            </a:prstGeom>
          </p:spPr>
          <p:txBody>
            <a:bodyPr anchor="ctr" rtlCol="false" tIns="31632" lIns="31632" bIns="31632" rIns="31632"/>
            <a:lstStyle/>
            <a:p>
              <a:pPr algn="ctr">
                <a:lnSpc>
                  <a:spcPts val="16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8248896">
            <a:off x="-10020289" y="6048953"/>
            <a:ext cx="11257445" cy="10122315"/>
            <a:chOff x="0" y="0"/>
            <a:chExt cx="4761579" cy="42814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61579" cy="4281451"/>
            </a:xfrm>
            <a:custGeom>
              <a:avLst/>
              <a:gdLst/>
              <a:ahLst/>
              <a:cxnLst/>
              <a:rect r="r" b="b" t="t" l="l"/>
              <a:pathLst>
                <a:path h="4281451" w="4761579">
                  <a:moveTo>
                    <a:pt x="0" y="0"/>
                  </a:moveTo>
                  <a:lnTo>
                    <a:pt x="4761579" y="0"/>
                  </a:lnTo>
                  <a:lnTo>
                    <a:pt x="4761579" y="4281451"/>
                  </a:lnTo>
                  <a:lnTo>
                    <a:pt x="0" y="4281451"/>
                  </a:lnTo>
                  <a:close/>
                </a:path>
              </a:pathLst>
            </a:custGeom>
            <a:solidFill>
              <a:srgbClr val="F59E0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4761579" cy="4300501"/>
            </a:xfrm>
            <a:prstGeom prst="rect">
              <a:avLst/>
            </a:prstGeom>
          </p:spPr>
          <p:txBody>
            <a:bodyPr anchor="ctr" rtlCol="false" tIns="31632" lIns="31632" bIns="31632" rIns="31632"/>
            <a:lstStyle/>
            <a:p>
              <a:pPr algn="ctr">
                <a:lnSpc>
                  <a:spcPts val="16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8100000">
            <a:off x="15778450" y="-4182422"/>
            <a:ext cx="3488619" cy="9480964"/>
            <a:chOff x="0" y="0"/>
            <a:chExt cx="703896" cy="19129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3896" cy="1912967"/>
            </a:xfrm>
            <a:custGeom>
              <a:avLst/>
              <a:gdLst/>
              <a:ahLst/>
              <a:cxnLst/>
              <a:rect r="r" b="b" t="t" l="l"/>
              <a:pathLst>
                <a:path h="1912967" w="703896">
                  <a:moveTo>
                    <a:pt x="0" y="0"/>
                  </a:moveTo>
                  <a:lnTo>
                    <a:pt x="703896" y="0"/>
                  </a:lnTo>
                  <a:lnTo>
                    <a:pt x="703896" y="1912967"/>
                  </a:lnTo>
                  <a:lnTo>
                    <a:pt x="0" y="1912967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703896" cy="1970117"/>
            </a:xfrm>
            <a:prstGeom prst="rect">
              <a:avLst/>
            </a:prstGeom>
          </p:spPr>
          <p:txBody>
            <a:bodyPr anchor="ctr" rtlCol="false" tIns="78621" lIns="78621" bIns="78621" rIns="78621"/>
            <a:lstStyle/>
            <a:p>
              <a:pPr algn="ctr">
                <a:lnSpc>
                  <a:spcPts val="4116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7183646">
            <a:off x="14905786" y="-3921008"/>
            <a:ext cx="3383200" cy="6526249"/>
            <a:chOff x="0" y="0"/>
            <a:chExt cx="682626" cy="13167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2626" cy="1316796"/>
            </a:xfrm>
            <a:custGeom>
              <a:avLst/>
              <a:gdLst/>
              <a:ahLst/>
              <a:cxnLst/>
              <a:rect r="r" b="b" t="t" l="l"/>
              <a:pathLst>
                <a:path h="1316796" w="68262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2850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682626" cy="1373946"/>
            </a:xfrm>
            <a:prstGeom prst="rect">
              <a:avLst/>
            </a:prstGeom>
          </p:spPr>
          <p:txBody>
            <a:bodyPr anchor="ctr" rtlCol="false" tIns="78621" lIns="78621" bIns="78621" rIns="78621"/>
            <a:lstStyle/>
            <a:p>
              <a:pPr algn="ctr">
                <a:lnSpc>
                  <a:spcPts val="4116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9000487">
            <a:off x="16949547" y="-1990293"/>
            <a:ext cx="3383200" cy="6526249"/>
            <a:chOff x="0" y="0"/>
            <a:chExt cx="682626" cy="13167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2626" cy="1316796"/>
            </a:xfrm>
            <a:custGeom>
              <a:avLst/>
              <a:gdLst/>
              <a:ahLst/>
              <a:cxnLst/>
              <a:rect r="r" b="b" t="t" l="l"/>
              <a:pathLst>
                <a:path h="1316796" w="68262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59E0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682626" cy="1373946"/>
            </a:xfrm>
            <a:prstGeom prst="rect">
              <a:avLst/>
            </a:prstGeom>
          </p:spPr>
          <p:txBody>
            <a:bodyPr anchor="ctr" rtlCol="false" tIns="78621" lIns="78621" bIns="78621" rIns="78621"/>
            <a:lstStyle/>
            <a:p>
              <a:pPr algn="ctr">
                <a:lnSpc>
                  <a:spcPts val="4116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2700000">
            <a:off x="15534560" y="-1565489"/>
            <a:ext cx="2434593" cy="2434593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EB5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78621" lIns="78621" bIns="78621" rIns="78621"/>
            <a:lstStyle/>
            <a:p>
              <a:pPr algn="ctr">
                <a:lnSpc>
                  <a:spcPts val="4116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93757" y="2697663"/>
            <a:ext cx="3022684" cy="1558358"/>
            <a:chOff x="0" y="0"/>
            <a:chExt cx="796098" cy="41043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96098" cy="410432"/>
            </a:xfrm>
            <a:custGeom>
              <a:avLst/>
              <a:gdLst/>
              <a:ahLst/>
              <a:cxnLst/>
              <a:rect r="r" b="b" t="t" l="l"/>
              <a:pathLst>
                <a:path h="410432" w="796098">
                  <a:moveTo>
                    <a:pt x="130625" y="0"/>
                  </a:moveTo>
                  <a:lnTo>
                    <a:pt x="665473" y="0"/>
                  </a:lnTo>
                  <a:cubicBezTo>
                    <a:pt x="700117" y="0"/>
                    <a:pt x="733342" y="13762"/>
                    <a:pt x="757839" y="38259"/>
                  </a:cubicBezTo>
                  <a:cubicBezTo>
                    <a:pt x="782336" y="62756"/>
                    <a:pt x="796098" y="95981"/>
                    <a:pt x="796098" y="130625"/>
                  </a:cubicBezTo>
                  <a:lnTo>
                    <a:pt x="796098" y="279807"/>
                  </a:lnTo>
                  <a:cubicBezTo>
                    <a:pt x="796098" y="351949"/>
                    <a:pt x="737615" y="410432"/>
                    <a:pt x="665473" y="410432"/>
                  </a:cubicBezTo>
                  <a:lnTo>
                    <a:pt x="130625" y="410432"/>
                  </a:lnTo>
                  <a:cubicBezTo>
                    <a:pt x="95981" y="410432"/>
                    <a:pt x="62756" y="396670"/>
                    <a:pt x="38259" y="372173"/>
                  </a:cubicBezTo>
                  <a:cubicBezTo>
                    <a:pt x="13762" y="347676"/>
                    <a:pt x="0" y="314451"/>
                    <a:pt x="0" y="279807"/>
                  </a:cubicBezTo>
                  <a:lnTo>
                    <a:pt x="0" y="130625"/>
                  </a:lnTo>
                  <a:cubicBezTo>
                    <a:pt x="0" y="95981"/>
                    <a:pt x="13762" y="62756"/>
                    <a:pt x="38259" y="38259"/>
                  </a:cubicBezTo>
                  <a:cubicBezTo>
                    <a:pt x="62756" y="13762"/>
                    <a:pt x="95981" y="0"/>
                    <a:pt x="130625" y="0"/>
                  </a:cubicBezTo>
                  <a:close/>
                </a:path>
              </a:pathLst>
            </a:custGeom>
            <a:solidFill>
              <a:srgbClr val="B4B4B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796098" cy="477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 spc="4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Pre-Embedding (e.g., Chunk Headers)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28700" y="1129956"/>
            <a:ext cx="15352374" cy="93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  <a:spcBef>
                <a:spcPct val="0"/>
              </a:spcBef>
            </a:pPr>
            <a:r>
              <a:rPr lang="en-US" sz="5199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Anatomy of a RAG Pipeline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5816516" y="2697663"/>
            <a:ext cx="3022684" cy="1558358"/>
            <a:chOff x="0" y="0"/>
            <a:chExt cx="796098" cy="41043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96098" cy="410432"/>
            </a:xfrm>
            <a:custGeom>
              <a:avLst/>
              <a:gdLst/>
              <a:ahLst/>
              <a:cxnLst/>
              <a:rect r="r" b="b" t="t" l="l"/>
              <a:pathLst>
                <a:path h="410432" w="796098">
                  <a:moveTo>
                    <a:pt x="130625" y="0"/>
                  </a:moveTo>
                  <a:lnTo>
                    <a:pt x="665473" y="0"/>
                  </a:lnTo>
                  <a:cubicBezTo>
                    <a:pt x="700117" y="0"/>
                    <a:pt x="733342" y="13762"/>
                    <a:pt x="757839" y="38259"/>
                  </a:cubicBezTo>
                  <a:cubicBezTo>
                    <a:pt x="782336" y="62756"/>
                    <a:pt x="796098" y="95981"/>
                    <a:pt x="796098" y="130625"/>
                  </a:cubicBezTo>
                  <a:lnTo>
                    <a:pt x="796098" y="279807"/>
                  </a:lnTo>
                  <a:cubicBezTo>
                    <a:pt x="796098" y="351949"/>
                    <a:pt x="737615" y="410432"/>
                    <a:pt x="665473" y="410432"/>
                  </a:cubicBezTo>
                  <a:lnTo>
                    <a:pt x="130625" y="410432"/>
                  </a:lnTo>
                  <a:cubicBezTo>
                    <a:pt x="95981" y="410432"/>
                    <a:pt x="62756" y="396670"/>
                    <a:pt x="38259" y="372173"/>
                  </a:cubicBezTo>
                  <a:cubicBezTo>
                    <a:pt x="13762" y="347676"/>
                    <a:pt x="0" y="314451"/>
                    <a:pt x="0" y="279807"/>
                  </a:cubicBezTo>
                  <a:lnTo>
                    <a:pt x="0" y="130625"/>
                  </a:lnTo>
                  <a:cubicBezTo>
                    <a:pt x="0" y="95981"/>
                    <a:pt x="13762" y="62756"/>
                    <a:pt x="38259" y="38259"/>
                  </a:cubicBezTo>
                  <a:cubicBezTo>
                    <a:pt x="62756" y="13762"/>
                    <a:pt x="95981" y="0"/>
                    <a:pt x="130625" y="0"/>
                  </a:cubicBezTo>
                  <a:close/>
                </a:path>
              </a:pathLst>
            </a:custGeom>
            <a:solidFill>
              <a:srgbClr val="B4B4B4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796098" cy="477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 spc="4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Query Expansion (e.g., Multi-Query)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445565" y="2697663"/>
            <a:ext cx="3022684" cy="1558358"/>
            <a:chOff x="0" y="0"/>
            <a:chExt cx="796098" cy="41043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96098" cy="410432"/>
            </a:xfrm>
            <a:custGeom>
              <a:avLst/>
              <a:gdLst/>
              <a:ahLst/>
              <a:cxnLst/>
              <a:rect r="r" b="b" t="t" l="l"/>
              <a:pathLst>
                <a:path h="410432" w="796098">
                  <a:moveTo>
                    <a:pt x="130625" y="0"/>
                  </a:moveTo>
                  <a:lnTo>
                    <a:pt x="665473" y="0"/>
                  </a:lnTo>
                  <a:cubicBezTo>
                    <a:pt x="700117" y="0"/>
                    <a:pt x="733342" y="13762"/>
                    <a:pt x="757839" y="38259"/>
                  </a:cubicBezTo>
                  <a:cubicBezTo>
                    <a:pt x="782336" y="62756"/>
                    <a:pt x="796098" y="95981"/>
                    <a:pt x="796098" y="130625"/>
                  </a:cubicBezTo>
                  <a:lnTo>
                    <a:pt x="796098" y="279807"/>
                  </a:lnTo>
                  <a:cubicBezTo>
                    <a:pt x="796098" y="351949"/>
                    <a:pt x="737615" y="410432"/>
                    <a:pt x="665473" y="410432"/>
                  </a:cubicBezTo>
                  <a:lnTo>
                    <a:pt x="130625" y="410432"/>
                  </a:lnTo>
                  <a:cubicBezTo>
                    <a:pt x="95981" y="410432"/>
                    <a:pt x="62756" y="396670"/>
                    <a:pt x="38259" y="372173"/>
                  </a:cubicBezTo>
                  <a:cubicBezTo>
                    <a:pt x="13762" y="347676"/>
                    <a:pt x="0" y="314451"/>
                    <a:pt x="0" y="279807"/>
                  </a:cubicBezTo>
                  <a:lnTo>
                    <a:pt x="0" y="130625"/>
                  </a:lnTo>
                  <a:cubicBezTo>
                    <a:pt x="0" y="95981"/>
                    <a:pt x="13762" y="62756"/>
                    <a:pt x="38259" y="38259"/>
                  </a:cubicBezTo>
                  <a:cubicBezTo>
                    <a:pt x="62756" y="13762"/>
                    <a:pt x="95981" y="0"/>
                    <a:pt x="130625" y="0"/>
                  </a:cubicBezTo>
                  <a:close/>
                </a:path>
              </a:pathLst>
            </a:custGeom>
            <a:solidFill>
              <a:srgbClr val="B4B4B4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796098" cy="477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 spc="4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Retrieval (e.g., Vector vs Keyword)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068324" y="2697663"/>
            <a:ext cx="3022684" cy="1558358"/>
            <a:chOff x="0" y="0"/>
            <a:chExt cx="796098" cy="41043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96098" cy="410432"/>
            </a:xfrm>
            <a:custGeom>
              <a:avLst/>
              <a:gdLst/>
              <a:ahLst/>
              <a:cxnLst/>
              <a:rect r="r" b="b" t="t" l="l"/>
              <a:pathLst>
                <a:path h="410432" w="796098">
                  <a:moveTo>
                    <a:pt x="130625" y="0"/>
                  </a:moveTo>
                  <a:lnTo>
                    <a:pt x="665473" y="0"/>
                  </a:lnTo>
                  <a:cubicBezTo>
                    <a:pt x="700117" y="0"/>
                    <a:pt x="733342" y="13762"/>
                    <a:pt x="757839" y="38259"/>
                  </a:cubicBezTo>
                  <a:cubicBezTo>
                    <a:pt x="782336" y="62756"/>
                    <a:pt x="796098" y="95981"/>
                    <a:pt x="796098" y="130625"/>
                  </a:cubicBezTo>
                  <a:lnTo>
                    <a:pt x="796098" y="279807"/>
                  </a:lnTo>
                  <a:cubicBezTo>
                    <a:pt x="796098" y="351949"/>
                    <a:pt x="737615" y="410432"/>
                    <a:pt x="665473" y="410432"/>
                  </a:cubicBezTo>
                  <a:lnTo>
                    <a:pt x="130625" y="410432"/>
                  </a:lnTo>
                  <a:cubicBezTo>
                    <a:pt x="95981" y="410432"/>
                    <a:pt x="62756" y="396670"/>
                    <a:pt x="38259" y="372173"/>
                  </a:cubicBezTo>
                  <a:cubicBezTo>
                    <a:pt x="13762" y="347676"/>
                    <a:pt x="0" y="314451"/>
                    <a:pt x="0" y="279807"/>
                  </a:cubicBezTo>
                  <a:lnTo>
                    <a:pt x="0" y="130625"/>
                  </a:lnTo>
                  <a:cubicBezTo>
                    <a:pt x="0" y="95981"/>
                    <a:pt x="13762" y="62756"/>
                    <a:pt x="38259" y="38259"/>
                  </a:cubicBezTo>
                  <a:cubicBezTo>
                    <a:pt x="62756" y="13762"/>
                    <a:pt x="95981" y="0"/>
                    <a:pt x="130625" y="0"/>
                  </a:cubicBezTo>
                  <a:close/>
                </a:path>
              </a:pathLst>
            </a:custGeom>
            <a:solidFill>
              <a:srgbClr val="B4B4B4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796098" cy="477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 spc="4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Reranking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077849" y="4986294"/>
            <a:ext cx="3022684" cy="1558358"/>
            <a:chOff x="0" y="0"/>
            <a:chExt cx="796098" cy="41043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96098" cy="410432"/>
            </a:xfrm>
            <a:custGeom>
              <a:avLst/>
              <a:gdLst/>
              <a:ahLst/>
              <a:cxnLst/>
              <a:rect r="r" b="b" t="t" l="l"/>
              <a:pathLst>
                <a:path h="410432" w="796098">
                  <a:moveTo>
                    <a:pt x="130625" y="0"/>
                  </a:moveTo>
                  <a:lnTo>
                    <a:pt x="665473" y="0"/>
                  </a:lnTo>
                  <a:cubicBezTo>
                    <a:pt x="700117" y="0"/>
                    <a:pt x="733342" y="13762"/>
                    <a:pt x="757839" y="38259"/>
                  </a:cubicBezTo>
                  <a:cubicBezTo>
                    <a:pt x="782336" y="62756"/>
                    <a:pt x="796098" y="95981"/>
                    <a:pt x="796098" y="130625"/>
                  </a:cubicBezTo>
                  <a:lnTo>
                    <a:pt x="796098" y="279807"/>
                  </a:lnTo>
                  <a:cubicBezTo>
                    <a:pt x="796098" y="351949"/>
                    <a:pt x="737615" y="410432"/>
                    <a:pt x="665473" y="410432"/>
                  </a:cubicBezTo>
                  <a:lnTo>
                    <a:pt x="130625" y="410432"/>
                  </a:lnTo>
                  <a:cubicBezTo>
                    <a:pt x="95981" y="410432"/>
                    <a:pt x="62756" y="396670"/>
                    <a:pt x="38259" y="372173"/>
                  </a:cubicBezTo>
                  <a:cubicBezTo>
                    <a:pt x="13762" y="347676"/>
                    <a:pt x="0" y="314451"/>
                    <a:pt x="0" y="279807"/>
                  </a:cubicBezTo>
                  <a:lnTo>
                    <a:pt x="0" y="130625"/>
                  </a:lnTo>
                  <a:cubicBezTo>
                    <a:pt x="0" y="95981"/>
                    <a:pt x="13762" y="62756"/>
                    <a:pt x="38259" y="38259"/>
                  </a:cubicBezTo>
                  <a:cubicBezTo>
                    <a:pt x="62756" y="13762"/>
                    <a:pt x="95981" y="0"/>
                    <a:pt x="130625" y="0"/>
                  </a:cubicBezTo>
                  <a:close/>
                </a:path>
              </a:pathLst>
            </a:custGeom>
            <a:solidFill>
              <a:srgbClr val="B4B4B4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66675"/>
              <a:ext cx="796098" cy="477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 spc="4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Filtering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445565" y="4986294"/>
            <a:ext cx="3022684" cy="1558358"/>
            <a:chOff x="0" y="0"/>
            <a:chExt cx="796098" cy="41043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96098" cy="410432"/>
            </a:xfrm>
            <a:custGeom>
              <a:avLst/>
              <a:gdLst/>
              <a:ahLst/>
              <a:cxnLst/>
              <a:rect r="r" b="b" t="t" l="l"/>
              <a:pathLst>
                <a:path h="410432" w="796098">
                  <a:moveTo>
                    <a:pt x="130625" y="0"/>
                  </a:moveTo>
                  <a:lnTo>
                    <a:pt x="665473" y="0"/>
                  </a:lnTo>
                  <a:cubicBezTo>
                    <a:pt x="700117" y="0"/>
                    <a:pt x="733342" y="13762"/>
                    <a:pt x="757839" y="38259"/>
                  </a:cubicBezTo>
                  <a:cubicBezTo>
                    <a:pt x="782336" y="62756"/>
                    <a:pt x="796098" y="95981"/>
                    <a:pt x="796098" y="130625"/>
                  </a:cubicBezTo>
                  <a:lnTo>
                    <a:pt x="796098" y="279807"/>
                  </a:lnTo>
                  <a:cubicBezTo>
                    <a:pt x="796098" y="351949"/>
                    <a:pt x="737615" y="410432"/>
                    <a:pt x="665473" y="410432"/>
                  </a:cubicBezTo>
                  <a:lnTo>
                    <a:pt x="130625" y="410432"/>
                  </a:lnTo>
                  <a:cubicBezTo>
                    <a:pt x="95981" y="410432"/>
                    <a:pt x="62756" y="396670"/>
                    <a:pt x="38259" y="372173"/>
                  </a:cubicBezTo>
                  <a:cubicBezTo>
                    <a:pt x="13762" y="347676"/>
                    <a:pt x="0" y="314451"/>
                    <a:pt x="0" y="279807"/>
                  </a:cubicBezTo>
                  <a:lnTo>
                    <a:pt x="0" y="130625"/>
                  </a:lnTo>
                  <a:cubicBezTo>
                    <a:pt x="0" y="95981"/>
                    <a:pt x="13762" y="62756"/>
                    <a:pt x="38259" y="38259"/>
                  </a:cubicBezTo>
                  <a:cubicBezTo>
                    <a:pt x="62756" y="13762"/>
                    <a:pt x="95981" y="0"/>
                    <a:pt x="130625" y="0"/>
                  </a:cubicBezTo>
                  <a:close/>
                </a:path>
              </a:pathLst>
            </a:custGeom>
            <a:solidFill>
              <a:srgbClr val="B4B4B4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66675"/>
              <a:ext cx="796098" cy="477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 spc="4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Augmentation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821278" y="5038216"/>
            <a:ext cx="3019449" cy="1506436"/>
            <a:chOff x="0" y="0"/>
            <a:chExt cx="795246" cy="39675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95246" cy="396757"/>
            </a:xfrm>
            <a:custGeom>
              <a:avLst/>
              <a:gdLst/>
              <a:ahLst/>
              <a:cxnLst/>
              <a:rect r="r" b="b" t="t" l="l"/>
              <a:pathLst>
                <a:path h="396757" w="795246">
                  <a:moveTo>
                    <a:pt x="130765" y="0"/>
                  </a:moveTo>
                  <a:lnTo>
                    <a:pt x="664481" y="0"/>
                  </a:lnTo>
                  <a:cubicBezTo>
                    <a:pt x="699162" y="0"/>
                    <a:pt x="732423" y="13777"/>
                    <a:pt x="756946" y="38300"/>
                  </a:cubicBezTo>
                  <a:cubicBezTo>
                    <a:pt x="781469" y="62823"/>
                    <a:pt x="795246" y="96084"/>
                    <a:pt x="795246" y="130765"/>
                  </a:cubicBezTo>
                  <a:lnTo>
                    <a:pt x="795246" y="265992"/>
                  </a:lnTo>
                  <a:cubicBezTo>
                    <a:pt x="795246" y="300673"/>
                    <a:pt x="781469" y="333933"/>
                    <a:pt x="756946" y="358457"/>
                  </a:cubicBezTo>
                  <a:cubicBezTo>
                    <a:pt x="732423" y="382980"/>
                    <a:pt x="699162" y="396757"/>
                    <a:pt x="664481" y="396757"/>
                  </a:cubicBezTo>
                  <a:lnTo>
                    <a:pt x="130765" y="396757"/>
                  </a:lnTo>
                  <a:cubicBezTo>
                    <a:pt x="96084" y="396757"/>
                    <a:pt x="62823" y="382980"/>
                    <a:pt x="38300" y="358457"/>
                  </a:cubicBezTo>
                  <a:cubicBezTo>
                    <a:pt x="13777" y="333933"/>
                    <a:pt x="0" y="300673"/>
                    <a:pt x="0" y="265992"/>
                  </a:cubicBezTo>
                  <a:lnTo>
                    <a:pt x="0" y="130765"/>
                  </a:lnTo>
                  <a:cubicBezTo>
                    <a:pt x="0" y="96084"/>
                    <a:pt x="13777" y="62823"/>
                    <a:pt x="38300" y="38300"/>
                  </a:cubicBezTo>
                  <a:cubicBezTo>
                    <a:pt x="62823" y="13777"/>
                    <a:pt x="96084" y="0"/>
                    <a:pt x="130765" y="0"/>
                  </a:cubicBezTo>
                  <a:close/>
                </a:path>
              </a:pathLst>
            </a:custGeom>
            <a:solidFill>
              <a:srgbClr val="B4B4B4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66675"/>
              <a:ext cx="795246" cy="463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 spc="4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Compression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187466" y="5038216"/>
            <a:ext cx="3028974" cy="1506436"/>
            <a:chOff x="0" y="0"/>
            <a:chExt cx="797755" cy="39675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97755" cy="396757"/>
            </a:xfrm>
            <a:custGeom>
              <a:avLst/>
              <a:gdLst/>
              <a:ahLst/>
              <a:cxnLst/>
              <a:rect r="r" b="b" t="t" l="l"/>
              <a:pathLst>
                <a:path h="396757" w="797755">
                  <a:moveTo>
                    <a:pt x="130354" y="0"/>
                  </a:moveTo>
                  <a:lnTo>
                    <a:pt x="667401" y="0"/>
                  </a:lnTo>
                  <a:cubicBezTo>
                    <a:pt x="739393" y="0"/>
                    <a:pt x="797755" y="58361"/>
                    <a:pt x="797755" y="130354"/>
                  </a:cubicBezTo>
                  <a:lnTo>
                    <a:pt x="797755" y="266403"/>
                  </a:lnTo>
                  <a:cubicBezTo>
                    <a:pt x="797755" y="300975"/>
                    <a:pt x="784021" y="334131"/>
                    <a:pt x="759575" y="358577"/>
                  </a:cubicBezTo>
                  <a:cubicBezTo>
                    <a:pt x="735129" y="383023"/>
                    <a:pt x="701973" y="396757"/>
                    <a:pt x="667401" y="396757"/>
                  </a:cubicBezTo>
                  <a:lnTo>
                    <a:pt x="130354" y="396757"/>
                  </a:lnTo>
                  <a:cubicBezTo>
                    <a:pt x="58361" y="396757"/>
                    <a:pt x="0" y="338395"/>
                    <a:pt x="0" y="266403"/>
                  </a:cubicBezTo>
                  <a:lnTo>
                    <a:pt x="0" y="130354"/>
                  </a:lnTo>
                  <a:cubicBezTo>
                    <a:pt x="0" y="58361"/>
                    <a:pt x="58361" y="0"/>
                    <a:pt x="130354" y="0"/>
                  </a:cubicBezTo>
                  <a:close/>
                </a:path>
              </a:pathLst>
            </a:custGeom>
            <a:solidFill>
              <a:srgbClr val="B4B4B4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66675"/>
              <a:ext cx="797755" cy="463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 spc="4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Prompt Engineering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187466" y="7325702"/>
            <a:ext cx="3028974" cy="1558358"/>
            <a:chOff x="0" y="0"/>
            <a:chExt cx="797755" cy="41043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97755" cy="410432"/>
            </a:xfrm>
            <a:custGeom>
              <a:avLst/>
              <a:gdLst/>
              <a:ahLst/>
              <a:cxnLst/>
              <a:rect r="r" b="b" t="t" l="l"/>
              <a:pathLst>
                <a:path h="410432" w="797755">
                  <a:moveTo>
                    <a:pt x="130354" y="0"/>
                  </a:moveTo>
                  <a:lnTo>
                    <a:pt x="667401" y="0"/>
                  </a:lnTo>
                  <a:cubicBezTo>
                    <a:pt x="739393" y="0"/>
                    <a:pt x="797755" y="58361"/>
                    <a:pt x="797755" y="130354"/>
                  </a:cubicBezTo>
                  <a:lnTo>
                    <a:pt x="797755" y="280078"/>
                  </a:lnTo>
                  <a:cubicBezTo>
                    <a:pt x="797755" y="352070"/>
                    <a:pt x="739393" y="410432"/>
                    <a:pt x="667401" y="410432"/>
                  </a:cubicBezTo>
                  <a:lnTo>
                    <a:pt x="130354" y="410432"/>
                  </a:lnTo>
                  <a:cubicBezTo>
                    <a:pt x="95782" y="410432"/>
                    <a:pt x="62626" y="396698"/>
                    <a:pt x="38180" y="372252"/>
                  </a:cubicBezTo>
                  <a:cubicBezTo>
                    <a:pt x="13734" y="347806"/>
                    <a:pt x="0" y="314650"/>
                    <a:pt x="0" y="280078"/>
                  </a:cubicBezTo>
                  <a:lnTo>
                    <a:pt x="0" y="130354"/>
                  </a:lnTo>
                  <a:cubicBezTo>
                    <a:pt x="0" y="58361"/>
                    <a:pt x="58361" y="0"/>
                    <a:pt x="130354" y="0"/>
                  </a:cubicBezTo>
                  <a:close/>
                </a:path>
              </a:pathLst>
            </a:custGeom>
            <a:solidFill>
              <a:srgbClr val="B4B4B4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66675"/>
              <a:ext cx="797755" cy="477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 spc="4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Post-Generation (Reflection)</a:t>
              </a:r>
            </a:p>
          </p:txBody>
        </p:sp>
      </p:grpSp>
      <p:sp>
        <p:nvSpPr>
          <p:cNvPr name="AutoShape 51" id="51"/>
          <p:cNvSpPr/>
          <p:nvPr/>
        </p:nvSpPr>
        <p:spPr>
          <a:xfrm>
            <a:off x="5192723" y="3443609"/>
            <a:ext cx="623793" cy="3323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2" id="52"/>
          <p:cNvSpPr/>
          <p:nvPr/>
        </p:nvSpPr>
        <p:spPr>
          <a:xfrm>
            <a:off x="8839200" y="3476842"/>
            <a:ext cx="606365" cy="4447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3" id="53"/>
          <p:cNvSpPr/>
          <p:nvPr/>
        </p:nvSpPr>
        <p:spPr>
          <a:xfrm flipV="true">
            <a:off x="12468249" y="3401099"/>
            <a:ext cx="629385" cy="7574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4" id="54"/>
          <p:cNvSpPr/>
          <p:nvPr/>
        </p:nvSpPr>
        <p:spPr>
          <a:xfrm>
            <a:off x="14579667" y="4256021"/>
            <a:ext cx="9525" cy="73027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5" id="55"/>
          <p:cNvSpPr/>
          <p:nvPr/>
        </p:nvSpPr>
        <p:spPr>
          <a:xfrm flipH="true">
            <a:off x="5216441" y="5791434"/>
            <a:ext cx="6048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6" id="56"/>
          <p:cNvSpPr/>
          <p:nvPr/>
        </p:nvSpPr>
        <p:spPr>
          <a:xfrm flipH="true">
            <a:off x="8840728" y="5765473"/>
            <a:ext cx="604838" cy="2596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7" id="57"/>
          <p:cNvSpPr/>
          <p:nvPr/>
        </p:nvSpPr>
        <p:spPr>
          <a:xfrm flipH="true">
            <a:off x="12468249" y="5765473"/>
            <a:ext cx="609600" cy="16801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8" id="58"/>
          <p:cNvSpPr/>
          <p:nvPr/>
        </p:nvSpPr>
        <p:spPr>
          <a:xfrm>
            <a:off x="3701954" y="6544652"/>
            <a:ext cx="79439" cy="84646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130386">
            <a:off x="-8725851" y="7797779"/>
            <a:ext cx="11257445" cy="10122315"/>
            <a:chOff x="0" y="0"/>
            <a:chExt cx="4761579" cy="42814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61579" cy="4281451"/>
            </a:xfrm>
            <a:custGeom>
              <a:avLst/>
              <a:gdLst/>
              <a:ahLst/>
              <a:cxnLst/>
              <a:rect r="r" b="b" t="t" l="l"/>
              <a:pathLst>
                <a:path h="4281451" w="4761579">
                  <a:moveTo>
                    <a:pt x="0" y="0"/>
                  </a:moveTo>
                  <a:lnTo>
                    <a:pt x="4761579" y="0"/>
                  </a:lnTo>
                  <a:lnTo>
                    <a:pt x="4761579" y="4281451"/>
                  </a:lnTo>
                  <a:lnTo>
                    <a:pt x="0" y="428145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761579" cy="4300501"/>
            </a:xfrm>
            <a:prstGeom prst="rect">
              <a:avLst/>
            </a:prstGeom>
          </p:spPr>
          <p:txBody>
            <a:bodyPr anchor="ctr" rtlCol="false" tIns="31632" lIns="31632" bIns="31632" rIns="31632"/>
            <a:lstStyle/>
            <a:p>
              <a:pPr algn="ctr">
                <a:lnSpc>
                  <a:spcPts val="16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343102">
            <a:off x="-9065727" y="7528949"/>
            <a:ext cx="11257445" cy="10122315"/>
            <a:chOff x="0" y="0"/>
            <a:chExt cx="4761579" cy="42814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61579" cy="4281451"/>
            </a:xfrm>
            <a:custGeom>
              <a:avLst/>
              <a:gdLst/>
              <a:ahLst/>
              <a:cxnLst/>
              <a:rect r="r" b="b" t="t" l="l"/>
              <a:pathLst>
                <a:path h="4281451" w="4761579">
                  <a:moveTo>
                    <a:pt x="0" y="0"/>
                  </a:moveTo>
                  <a:lnTo>
                    <a:pt x="4761579" y="0"/>
                  </a:lnTo>
                  <a:lnTo>
                    <a:pt x="4761579" y="4281451"/>
                  </a:lnTo>
                  <a:lnTo>
                    <a:pt x="0" y="4281451"/>
                  </a:lnTo>
                  <a:close/>
                </a:path>
              </a:pathLst>
            </a:custGeom>
            <a:solidFill>
              <a:srgbClr val="FEB5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4761579" cy="4300501"/>
            </a:xfrm>
            <a:prstGeom prst="rect">
              <a:avLst/>
            </a:prstGeom>
          </p:spPr>
          <p:txBody>
            <a:bodyPr anchor="ctr" rtlCol="false" tIns="31632" lIns="31632" bIns="31632" rIns="31632"/>
            <a:lstStyle/>
            <a:p>
              <a:pPr algn="ctr">
                <a:lnSpc>
                  <a:spcPts val="16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8248896">
            <a:off x="-10020289" y="6048953"/>
            <a:ext cx="11257445" cy="10122315"/>
            <a:chOff x="0" y="0"/>
            <a:chExt cx="4761579" cy="42814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61579" cy="4281451"/>
            </a:xfrm>
            <a:custGeom>
              <a:avLst/>
              <a:gdLst/>
              <a:ahLst/>
              <a:cxnLst/>
              <a:rect r="r" b="b" t="t" l="l"/>
              <a:pathLst>
                <a:path h="4281451" w="4761579">
                  <a:moveTo>
                    <a:pt x="0" y="0"/>
                  </a:moveTo>
                  <a:lnTo>
                    <a:pt x="4761579" y="0"/>
                  </a:lnTo>
                  <a:lnTo>
                    <a:pt x="4761579" y="4281451"/>
                  </a:lnTo>
                  <a:lnTo>
                    <a:pt x="0" y="4281451"/>
                  </a:lnTo>
                  <a:close/>
                </a:path>
              </a:pathLst>
            </a:custGeom>
            <a:solidFill>
              <a:srgbClr val="F59E0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4761579" cy="4300501"/>
            </a:xfrm>
            <a:prstGeom prst="rect">
              <a:avLst/>
            </a:prstGeom>
          </p:spPr>
          <p:txBody>
            <a:bodyPr anchor="ctr" rtlCol="false" tIns="31632" lIns="31632" bIns="31632" rIns="31632"/>
            <a:lstStyle/>
            <a:p>
              <a:pPr algn="ctr">
                <a:lnSpc>
                  <a:spcPts val="16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8100000">
            <a:off x="15778450" y="-4182422"/>
            <a:ext cx="3488619" cy="9480964"/>
            <a:chOff x="0" y="0"/>
            <a:chExt cx="703896" cy="19129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3896" cy="1912967"/>
            </a:xfrm>
            <a:custGeom>
              <a:avLst/>
              <a:gdLst/>
              <a:ahLst/>
              <a:cxnLst/>
              <a:rect r="r" b="b" t="t" l="l"/>
              <a:pathLst>
                <a:path h="1912967" w="703896">
                  <a:moveTo>
                    <a:pt x="0" y="0"/>
                  </a:moveTo>
                  <a:lnTo>
                    <a:pt x="703896" y="0"/>
                  </a:lnTo>
                  <a:lnTo>
                    <a:pt x="703896" y="1912967"/>
                  </a:lnTo>
                  <a:lnTo>
                    <a:pt x="0" y="1912967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703896" cy="1970117"/>
            </a:xfrm>
            <a:prstGeom prst="rect">
              <a:avLst/>
            </a:prstGeom>
          </p:spPr>
          <p:txBody>
            <a:bodyPr anchor="ctr" rtlCol="false" tIns="78621" lIns="78621" bIns="78621" rIns="78621"/>
            <a:lstStyle/>
            <a:p>
              <a:pPr algn="ctr">
                <a:lnSpc>
                  <a:spcPts val="4116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7183646">
            <a:off x="14905786" y="-3921008"/>
            <a:ext cx="3383200" cy="6526249"/>
            <a:chOff x="0" y="0"/>
            <a:chExt cx="682626" cy="13167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2626" cy="1316796"/>
            </a:xfrm>
            <a:custGeom>
              <a:avLst/>
              <a:gdLst/>
              <a:ahLst/>
              <a:cxnLst/>
              <a:rect r="r" b="b" t="t" l="l"/>
              <a:pathLst>
                <a:path h="1316796" w="68262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2850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682626" cy="1373946"/>
            </a:xfrm>
            <a:prstGeom prst="rect">
              <a:avLst/>
            </a:prstGeom>
          </p:spPr>
          <p:txBody>
            <a:bodyPr anchor="ctr" rtlCol="false" tIns="78621" lIns="78621" bIns="78621" rIns="78621"/>
            <a:lstStyle/>
            <a:p>
              <a:pPr algn="ctr">
                <a:lnSpc>
                  <a:spcPts val="4116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9000487">
            <a:off x="16949547" y="-1990293"/>
            <a:ext cx="3383200" cy="6526249"/>
            <a:chOff x="0" y="0"/>
            <a:chExt cx="682626" cy="13167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2626" cy="1316796"/>
            </a:xfrm>
            <a:custGeom>
              <a:avLst/>
              <a:gdLst/>
              <a:ahLst/>
              <a:cxnLst/>
              <a:rect r="r" b="b" t="t" l="l"/>
              <a:pathLst>
                <a:path h="1316796" w="68262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59E0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682626" cy="1373946"/>
            </a:xfrm>
            <a:prstGeom prst="rect">
              <a:avLst/>
            </a:prstGeom>
          </p:spPr>
          <p:txBody>
            <a:bodyPr anchor="ctr" rtlCol="false" tIns="78621" lIns="78621" bIns="78621" rIns="78621"/>
            <a:lstStyle/>
            <a:p>
              <a:pPr algn="ctr">
                <a:lnSpc>
                  <a:spcPts val="4116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2700000">
            <a:off x="15534560" y="-1565489"/>
            <a:ext cx="2434593" cy="2434593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EB5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78621" lIns="78621" bIns="78621" rIns="78621"/>
            <a:lstStyle/>
            <a:p>
              <a:pPr algn="ctr">
                <a:lnSpc>
                  <a:spcPts val="4116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28700" y="1421040"/>
            <a:ext cx="15352374" cy="93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  <a:spcBef>
                <a:spcPct val="0"/>
              </a:spcBef>
            </a:pPr>
            <a:r>
              <a:rPr lang="en-US" sz="5199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How the Genetic Search Works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2823199"/>
            <a:ext cx="14337981" cy="526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4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Initialization: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Generate population of 50 random pipelines.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spc="4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Evaluation: 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Run against validation set (Q&amp;A pairs).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spc="4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Selection: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Retain top 20% performers.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spc="4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Crossover: 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Combine "genes" (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modules) of two successful parents.</a:t>
            </a:r>
          </a:p>
          <a:p>
            <a:pPr algn="l">
              <a:lnSpc>
                <a:spcPts val="3499"/>
              </a:lnSpc>
            </a:pPr>
            <a:r>
              <a:rPr lang="en-US" sz="2499" i="true" spc="49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Parent A (Vector Search) + Parent B (HyDE) = Child (Vector + HyDE)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spc="4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Mut</a:t>
            </a:r>
            <a:r>
              <a:rPr lang="en-US" sz="2499" spc="4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ation: 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Randomly flip a module (e.g., swap R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era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nker) to avo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id l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ocal minima.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b="true" sz="2499" spc="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Efficiency: 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Converges in ~15 generations (exploring only 0.2% of total space).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130386">
            <a:off x="-8725851" y="7797779"/>
            <a:ext cx="11257445" cy="10122315"/>
            <a:chOff x="0" y="0"/>
            <a:chExt cx="4761579" cy="42814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61579" cy="4281451"/>
            </a:xfrm>
            <a:custGeom>
              <a:avLst/>
              <a:gdLst/>
              <a:ahLst/>
              <a:cxnLst/>
              <a:rect r="r" b="b" t="t" l="l"/>
              <a:pathLst>
                <a:path h="4281451" w="4761579">
                  <a:moveTo>
                    <a:pt x="0" y="0"/>
                  </a:moveTo>
                  <a:lnTo>
                    <a:pt x="4761579" y="0"/>
                  </a:lnTo>
                  <a:lnTo>
                    <a:pt x="4761579" y="4281451"/>
                  </a:lnTo>
                  <a:lnTo>
                    <a:pt x="0" y="428145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761579" cy="4300501"/>
            </a:xfrm>
            <a:prstGeom prst="rect">
              <a:avLst/>
            </a:prstGeom>
          </p:spPr>
          <p:txBody>
            <a:bodyPr anchor="ctr" rtlCol="false" tIns="31632" lIns="31632" bIns="31632" rIns="31632"/>
            <a:lstStyle/>
            <a:p>
              <a:pPr algn="ctr">
                <a:lnSpc>
                  <a:spcPts val="16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343102">
            <a:off x="-9065727" y="7528949"/>
            <a:ext cx="11257445" cy="10122315"/>
            <a:chOff x="0" y="0"/>
            <a:chExt cx="4761579" cy="42814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61579" cy="4281451"/>
            </a:xfrm>
            <a:custGeom>
              <a:avLst/>
              <a:gdLst/>
              <a:ahLst/>
              <a:cxnLst/>
              <a:rect r="r" b="b" t="t" l="l"/>
              <a:pathLst>
                <a:path h="4281451" w="4761579">
                  <a:moveTo>
                    <a:pt x="0" y="0"/>
                  </a:moveTo>
                  <a:lnTo>
                    <a:pt x="4761579" y="0"/>
                  </a:lnTo>
                  <a:lnTo>
                    <a:pt x="4761579" y="4281451"/>
                  </a:lnTo>
                  <a:lnTo>
                    <a:pt x="0" y="4281451"/>
                  </a:lnTo>
                  <a:close/>
                </a:path>
              </a:pathLst>
            </a:custGeom>
            <a:solidFill>
              <a:srgbClr val="FEB5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4761579" cy="4300501"/>
            </a:xfrm>
            <a:prstGeom prst="rect">
              <a:avLst/>
            </a:prstGeom>
          </p:spPr>
          <p:txBody>
            <a:bodyPr anchor="ctr" rtlCol="false" tIns="31632" lIns="31632" bIns="31632" rIns="31632"/>
            <a:lstStyle/>
            <a:p>
              <a:pPr algn="ctr">
                <a:lnSpc>
                  <a:spcPts val="16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8248896">
            <a:off x="-10020289" y="6048953"/>
            <a:ext cx="11257445" cy="10122315"/>
            <a:chOff x="0" y="0"/>
            <a:chExt cx="4761579" cy="42814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61579" cy="4281451"/>
            </a:xfrm>
            <a:custGeom>
              <a:avLst/>
              <a:gdLst/>
              <a:ahLst/>
              <a:cxnLst/>
              <a:rect r="r" b="b" t="t" l="l"/>
              <a:pathLst>
                <a:path h="4281451" w="4761579">
                  <a:moveTo>
                    <a:pt x="0" y="0"/>
                  </a:moveTo>
                  <a:lnTo>
                    <a:pt x="4761579" y="0"/>
                  </a:lnTo>
                  <a:lnTo>
                    <a:pt x="4761579" y="4281451"/>
                  </a:lnTo>
                  <a:lnTo>
                    <a:pt x="0" y="4281451"/>
                  </a:lnTo>
                  <a:close/>
                </a:path>
              </a:pathLst>
            </a:custGeom>
            <a:solidFill>
              <a:srgbClr val="F59E0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4761579" cy="4300501"/>
            </a:xfrm>
            <a:prstGeom prst="rect">
              <a:avLst/>
            </a:prstGeom>
          </p:spPr>
          <p:txBody>
            <a:bodyPr anchor="ctr" rtlCol="false" tIns="31632" lIns="31632" bIns="31632" rIns="31632"/>
            <a:lstStyle/>
            <a:p>
              <a:pPr algn="ctr">
                <a:lnSpc>
                  <a:spcPts val="16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8100000">
            <a:off x="15778450" y="-4182422"/>
            <a:ext cx="3488619" cy="9480964"/>
            <a:chOff x="0" y="0"/>
            <a:chExt cx="703896" cy="19129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3896" cy="1912967"/>
            </a:xfrm>
            <a:custGeom>
              <a:avLst/>
              <a:gdLst/>
              <a:ahLst/>
              <a:cxnLst/>
              <a:rect r="r" b="b" t="t" l="l"/>
              <a:pathLst>
                <a:path h="1912967" w="703896">
                  <a:moveTo>
                    <a:pt x="0" y="0"/>
                  </a:moveTo>
                  <a:lnTo>
                    <a:pt x="703896" y="0"/>
                  </a:lnTo>
                  <a:lnTo>
                    <a:pt x="703896" y="1912967"/>
                  </a:lnTo>
                  <a:lnTo>
                    <a:pt x="0" y="1912967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703896" cy="1970117"/>
            </a:xfrm>
            <a:prstGeom prst="rect">
              <a:avLst/>
            </a:prstGeom>
          </p:spPr>
          <p:txBody>
            <a:bodyPr anchor="ctr" rtlCol="false" tIns="78621" lIns="78621" bIns="78621" rIns="78621"/>
            <a:lstStyle/>
            <a:p>
              <a:pPr algn="ctr">
                <a:lnSpc>
                  <a:spcPts val="4116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7183646">
            <a:off x="14905786" y="-3921008"/>
            <a:ext cx="3383200" cy="6526249"/>
            <a:chOff x="0" y="0"/>
            <a:chExt cx="682626" cy="13167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2626" cy="1316796"/>
            </a:xfrm>
            <a:custGeom>
              <a:avLst/>
              <a:gdLst/>
              <a:ahLst/>
              <a:cxnLst/>
              <a:rect r="r" b="b" t="t" l="l"/>
              <a:pathLst>
                <a:path h="1316796" w="68262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2850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682626" cy="1373946"/>
            </a:xfrm>
            <a:prstGeom prst="rect">
              <a:avLst/>
            </a:prstGeom>
          </p:spPr>
          <p:txBody>
            <a:bodyPr anchor="ctr" rtlCol="false" tIns="78621" lIns="78621" bIns="78621" rIns="78621"/>
            <a:lstStyle/>
            <a:p>
              <a:pPr algn="ctr">
                <a:lnSpc>
                  <a:spcPts val="4116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9000487">
            <a:off x="16949547" y="-1990293"/>
            <a:ext cx="3383200" cy="6526249"/>
            <a:chOff x="0" y="0"/>
            <a:chExt cx="682626" cy="13167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2626" cy="1316796"/>
            </a:xfrm>
            <a:custGeom>
              <a:avLst/>
              <a:gdLst/>
              <a:ahLst/>
              <a:cxnLst/>
              <a:rect r="r" b="b" t="t" l="l"/>
              <a:pathLst>
                <a:path h="1316796" w="68262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59E0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682626" cy="1373946"/>
            </a:xfrm>
            <a:prstGeom prst="rect">
              <a:avLst/>
            </a:prstGeom>
          </p:spPr>
          <p:txBody>
            <a:bodyPr anchor="ctr" rtlCol="false" tIns="78621" lIns="78621" bIns="78621" rIns="78621"/>
            <a:lstStyle/>
            <a:p>
              <a:pPr algn="ctr">
                <a:lnSpc>
                  <a:spcPts val="4116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2700000">
            <a:off x="15534560" y="-1565489"/>
            <a:ext cx="2434593" cy="2434593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EB5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78621" lIns="78621" bIns="78621" rIns="78621"/>
            <a:lstStyle/>
            <a:p>
              <a:pPr algn="ctr">
                <a:lnSpc>
                  <a:spcPts val="4116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19231" y="885825"/>
            <a:ext cx="15352374" cy="93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  <a:spcBef>
                <a:spcPct val="0"/>
              </a:spcBef>
            </a:pPr>
            <a:r>
              <a:rPr lang="en-US" sz="5199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6 Domains, 3 Question Types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19231" y="2554618"/>
            <a:ext cx="7676187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 spc="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Math, Computer Science (Structured/Fa</a:t>
            </a:r>
            <a:r>
              <a:rPr lang="en-US" sz="2200" spc="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ctual)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9231" y="3157727"/>
            <a:ext cx="6838762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 spc="4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Law, Finance (Dense/Interpretative)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19231" y="3757202"/>
            <a:ext cx="6881092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 spc="4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Medicine, Defense (Terminology heavy)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09762" y="2048283"/>
            <a:ext cx="1571710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</a:t>
            </a:r>
            <a:r>
              <a:rPr lang="en-US" b="true" sz="2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atasets: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38169" y="5057435"/>
            <a:ext cx="7676187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 spc="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100 Questions per dom</a:t>
            </a:r>
            <a:r>
              <a:rPr lang="en-US" sz="2200" spc="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ain.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4551100"/>
            <a:ext cx="2817614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Tes</a:t>
            </a:r>
            <a:r>
              <a:rPr lang="en-US" b="true" sz="2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ting Protocol: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47638" y="6355615"/>
            <a:ext cx="7676187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 spc="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Factual: Specific entity retriev</a:t>
            </a:r>
            <a:r>
              <a:rPr lang="en-US" sz="2200" spc="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47638" y="6958725"/>
            <a:ext cx="8885743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 spc="4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Interpretati</a:t>
            </a:r>
            <a:r>
              <a:rPr lang="en-US" sz="2200" spc="4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on: R</a:t>
            </a:r>
            <a:r>
              <a:rPr lang="en-US" sz="2200" spc="4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200" spc="4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asoning across multiple chunks.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47638" y="7558200"/>
            <a:ext cx="6881092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 spc="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Long-A</a:t>
            </a:r>
            <a:r>
              <a:rPr lang="en-US" sz="2200" spc="4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200" spc="4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sw</a:t>
            </a:r>
            <a:r>
              <a:rPr lang="en-US" sz="2200" spc="4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200" spc="4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r:</a:t>
            </a:r>
            <a:r>
              <a:rPr lang="en-US" sz="2200" spc="4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0" spc="4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Compr</a:t>
            </a:r>
            <a:r>
              <a:rPr lang="en-US" sz="2200" spc="4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200" spc="4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200" spc="4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ens</a:t>
            </a:r>
            <a:r>
              <a:rPr lang="en-US" sz="2200" spc="4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iv</a:t>
            </a:r>
            <a:r>
              <a:rPr lang="en-US" sz="2200" spc="4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e</a:t>
            </a:r>
            <a:r>
              <a:rPr lang="en-US" sz="2200" spc="4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xp</a:t>
            </a:r>
            <a:r>
              <a:rPr lang="en-US" sz="2200" spc="4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200" spc="4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</a:t>
            </a:r>
            <a:r>
              <a:rPr lang="en-US" sz="2200" spc="4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200" spc="4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tion.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38169" y="5849280"/>
            <a:ext cx="349252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Ques</a:t>
            </a:r>
            <a:r>
              <a:rPr lang="en-US" b="true" sz="2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tion Categories: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130386">
            <a:off x="-8725851" y="7797779"/>
            <a:ext cx="11257445" cy="10122315"/>
            <a:chOff x="0" y="0"/>
            <a:chExt cx="4761579" cy="42814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61579" cy="4281451"/>
            </a:xfrm>
            <a:custGeom>
              <a:avLst/>
              <a:gdLst/>
              <a:ahLst/>
              <a:cxnLst/>
              <a:rect r="r" b="b" t="t" l="l"/>
              <a:pathLst>
                <a:path h="4281451" w="4761579">
                  <a:moveTo>
                    <a:pt x="0" y="0"/>
                  </a:moveTo>
                  <a:lnTo>
                    <a:pt x="4761579" y="0"/>
                  </a:lnTo>
                  <a:lnTo>
                    <a:pt x="4761579" y="4281451"/>
                  </a:lnTo>
                  <a:lnTo>
                    <a:pt x="0" y="428145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761579" cy="4300501"/>
            </a:xfrm>
            <a:prstGeom prst="rect">
              <a:avLst/>
            </a:prstGeom>
          </p:spPr>
          <p:txBody>
            <a:bodyPr anchor="ctr" rtlCol="false" tIns="31632" lIns="31632" bIns="31632" rIns="31632"/>
            <a:lstStyle/>
            <a:p>
              <a:pPr algn="ctr">
                <a:lnSpc>
                  <a:spcPts val="16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343102">
            <a:off x="-9065727" y="7528949"/>
            <a:ext cx="11257445" cy="10122315"/>
            <a:chOff x="0" y="0"/>
            <a:chExt cx="4761579" cy="42814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61579" cy="4281451"/>
            </a:xfrm>
            <a:custGeom>
              <a:avLst/>
              <a:gdLst/>
              <a:ahLst/>
              <a:cxnLst/>
              <a:rect r="r" b="b" t="t" l="l"/>
              <a:pathLst>
                <a:path h="4281451" w="4761579">
                  <a:moveTo>
                    <a:pt x="0" y="0"/>
                  </a:moveTo>
                  <a:lnTo>
                    <a:pt x="4761579" y="0"/>
                  </a:lnTo>
                  <a:lnTo>
                    <a:pt x="4761579" y="4281451"/>
                  </a:lnTo>
                  <a:lnTo>
                    <a:pt x="0" y="4281451"/>
                  </a:lnTo>
                  <a:close/>
                </a:path>
              </a:pathLst>
            </a:custGeom>
            <a:solidFill>
              <a:srgbClr val="FEB5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4761579" cy="4300501"/>
            </a:xfrm>
            <a:prstGeom prst="rect">
              <a:avLst/>
            </a:prstGeom>
          </p:spPr>
          <p:txBody>
            <a:bodyPr anchor="ctr" rtlCol="false" tIns="31632" lIns="31632" bIns="31632" rIns="31632"/>
            <a:lstStyle/>
            <a:p>
              <a:pPr algn="ctr">
                <a:lnSpc>
                  <a:spcPts val="16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8248896">
            <a:off x="-10020289" y="6048953"/>
            <a:ext cx="11257445" cy="10122315"/>
            <a:chOff x="0" y="0"/>
            <a:chExt cx="4761579" cy="42814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61579" cy="4281451"/>
            </a:xfrm>
            <a:custGeom>
              <a:avLst/>
              <a:gdLst/>
              <a:ahLst/>
              <a:cxnLst/>
              <a:rect r="r" b="b" t="t" l="l"/>
              <a:pathLst>
                <a:path h="4281451" w="4761579">
                  <a:moveTo>
                    <a:pt x="0" y="0"/>
                  </a:moveTo>
                  <a:lnTo>
                    <a:pt x="4761579" y="0"/>
                  </a:lnTo>
                  <a:lnTo>
                    <a:pt x="4761579" y="4281451"/>
                  </a:lnTo>
                  <a:lnTo>
                    <a:pt x="0" y="4281451"/>
                  </a:lnTo>
                  <a:close/>
                </a:path>
              </a:pathLst>
            </a:custGeom>
            <a:solidFill>
              <a:srgbClr val="F59E0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4761579" cy="4300501"/>
            </a:xfrm>
            <a:prstGeom prst="rect">
              <a:avLst/>
            </a:prstGeom>
          </p:spPr>
          <p:txBody>
            <a:bodyPr anchor="ctr" rtlCol="false" tIns="31632" lIns="31632" bIns="31632" rIns="31632"/>
            <a:lstStyle/>
            <a:p>
              <a:pPr algn="ctr">
                <a:lnSpc>
                  <a:spcPts val="16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8100000">
            <a:off x="15778450" y="-4182422"/>
            <a:ext cx="3488619" cy="9480964"/>
            <a:chOff x="0" y="0"/>
            <a:chExt cx="703896" cy="19129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3896" cy="1912967"/>
            </a:xfrm>
            <a:custGeom>
              <a:avLst/>
              <a:gdLst/>
              <a:ahLst/>
              <a:cxnLst/>
              <a:rect r="r" b="b" t="t" l="l"/>
              <a:pathLst>
                <a:path h="1912967" w="703896">
                  <a:moveTo>
                    <a:pt x="0" y="0"/>
                  </a:moveTo>
                  <a:lnTo>
                    <a:pt x="703896" y="0"/>
                  </a:lnTo>
                  <a:lnTo>
                    <a:pt x="703896" y="1912967"/>
                  </a:lnTo>
                  <a:lnTo>
                    <a:pt x="0" y="1912967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703896" cy="1970117"/>
            </a:xfrm>
            <a:prstGeom prst="rect">
              <a:avLst/>
            </a:prstGeom>
          </p:spPr>
          <p:txBody>
            <a:bodyPr anchor="ctr" rtlCol="false" tIns="78621" lIns="78621" bIns="78621" rIns="78621"/>
            <a:lstStyle/>
            <a:p>
              <a:pPr algn="ctr">
                <a:lnSpc>
                  <a:spcPts val="4116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7183646">
            <a:off x="14905786" y="-3921008"/>
            <a:ext cx="3383200" cy="6526249"/>
            <a:chOff x="0" y="0"/>
            <a:chExt cx="682626" cy="13167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2626" cy="1316796"/>
            </a:xfrm>
            <a:custGeom>
              <a:avLst/>
              <a:gdLst/>
              <a:ahLst/>
              <a:cxnLst/>
              <a:rect r="r" b="b" t="t" l="l"/>
              <a:pathLst>
                <a:path h="1316796" w="68262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2850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682626" cy="1373946"/>
            </a:xfrm>
            <a:prstGeom prst="rect">
              <a:avLst/>
            </a:prstGeom>
          </p:spPr>
          <p:txBody>
            <a:bodyPr anchor="ctr" rtlCol="false" tIns="78621" lIns="78621" bIns="78621" rIns="78621"/>
            <a:lstStyle/>
            <a:p>
              <a:pPr algn="ctr">
                <a:lnSpc>
                  <a:spcPts val="4116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9000487">
            <a:off x="16949547" y="-1990293"/>
            <a:ext cx="3383200" cy="6526249"/>
            <a:chOff x="0" y="0"/>
            <a:chExt cx="682626" cy="13167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2626" cy="1316796"/>
            </a:xfrm>
            <a:custGeom>
              <a:avLst/>
              <a:gdLst/>
              <a:ahLst/>
              <a:cxnLst/>
              <a:rect r="r" b="b" t="t" l="l"/>
              <a:pathLst>
                <a:path h="1316796" w="68262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59E0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682626" cy="1373946"/>
            </a:xfrm>
            <a:prstGeom prst="rect">
              <a:avLst/>
            </a:prstGeom>
          </p:spPr>
          <p:txBody>
            <a:bodyPr anchor="ctr" rtlCol="false" tIns="78621" lIns="78621" bIns="78621" rIns="78621"/>
            <a:lstStyle/>
            <a:p>
              <a:pPr algn="ctr">
                <a:lnSpc>
                  <a:spcPts val="4116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2700000">
            <a:off x="15534560" y="-1565489"/>
            <a:ext cx="2434593" cy="2434593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EB5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78621" lIns="78621" bIns="78621" rIns="78621"/>
            <a:lstStyle/>
            <a:p>
              <a:pPr algn="ctr">
                <a:lnSpc>
                  <a:spcPts val="4116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028700" y="3092082"/>
            <a:ext cx="1371071" cy="1371071"/>
          </a:xfrm>
          <a:custGeom>
            <a:avLst/>
            <a:gdLst/>
            <a:ahLst/>
            <a:cxnLst/>
            <a:rect r="r" b="b" t="t" l="l"/>
            <a:pathLst>
              <a:path h="1371071" w="1371071">
                <a:moveTo>
                  <a:pt x="0" y="0"/>
                </a:moveTo>
                <a:lnTo>
                  <a:pt x="1371071" y="0"/>
                </a:lnTo>
                <a:lnTo>
                  <a:pt x="1371071" y="1371071"/>
                </a:lnTo>
                <a:lnTo>
                  <a:pt x="0" y="13710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04938" y="5000992"/>
            <a:ext cx="818596" cy="1771756"/>
          </a:xfrm>
          <a:custGeom>
            <a:avLst/>
            <a:gdLst/>
            <a:ahLst/>
            <a:cxnLst/>
            <a:rect r="r" b="b" t="t" l="l"/>
            <a:pathLst>
              <a:path h="1771756" w="818596">
                <a:moveTo>
                  <a:pt x="0" y="0"/>
                </a:moveTo>
                <a:lnTo>
                  <a:pt x="818596" y="0"/>
                </a:lnTo>
                <a:lnTo>
                  <a:pt x="818596" y="1771756"/>
                </a:lnTo>
                <a:lnTo>
                  <a:pt x="0" y="17717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28700" y="1494472"/>
            <a:ext cx="15352374" cy="93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  <a:spcBef>
                <a:spcPct val="0"/>
              </a:spcBef>
            </a:pPr>
            <a:r>
              <a:rPr lang="en-US" sz="5199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Universal Winners (Selected &gt;80% of the time)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749076" y="3308402"/>
            <a:ext cx="13550737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 spc="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Retrieval Method: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Vector Retrieval (Dense Embeddings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71190" y="7334346"/>
            <a:ext cx="15945620" cy="1372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b="true" sz="2599" spc="5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Takeaway:</a:t>
            </a:r>
          </a:p>
          <a:p>
            <a:pPr algn="ctr">
              <a:lnSpc>
                <a:spcPts val="3639"/>
              </a:lnSpc>
            </a:pPr>
            <a:r>
              <a:rPr lang="en-US" b="true" sz="2599" spc="5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Regardless of domain, these two components act as the foundational "load-bearing walls" of a modern RAG system.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749076" y="3781379"/>
            <a:ext cx="13550737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i="true" spc="46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Beat Keyword and Hybrid search consistently</a:t>
            </a:r>
            <a:r>
              <a:rPr lang="en-US" sz="2300" i="true" spc="46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749076" y="5445545"/>
            <a:ext cx="13550737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 spc="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Post-Generation: </a:t>
            </a:r>
            <a:r>
              <a:rPr lang="en-US" sz="2499" spc="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Reflection/Revising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749076" y="5918522"/>
            <a:ext cx="13550737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i="true" spc="46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LLM critiques its own output before finalizing</a:t>
            </a:r>
            <a:r>
              <a:rPr lang="en-US" sz="2300" i="true" spc="46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130386">
            <a:off x="-8725851" y="7797779"/>
            <a:ext cx="11257445" cy="10122315"/>
            <a:chOff x="0" y="0"/>
            <a:chExt cx="4761579" cy="42814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61579" cy="4281451"/>
            </a:xfrm>
            <a:custGeom>
              <a:avLst/>
              <a:gdLst/>
              <a:ahLst/>
              <a:cxnLst/>
              <a:rect r="r" b="b" t="t" l="l"/>
              <a:pathLst>
                <a:path h="4281451" w="4761579">
                  <a:moveTo>
                    <a:pt x="0" y="0"/>
                  </a:moveTo>
                  <a:lnTo>
                    <a:pt x="4761579" y="0"/>
                  </a:lnTo>
                  <a:lnTo>
                    <a:pt x="4761579" y="4281451"/>
                  </a:lnTo>
                  <a:lnTo>
                    <a:pt x="0" y="428145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761579" cy="4300501"/>
            </a:xfrm>
            <a:prstGeom prst="rect">
              <a:avLst/>
            </a:prstGeom>
          </p:spPr>
          <p:txBody>
            <a:bodyPr anchor="ctr" rtlCol="false" tIns="31632" lIns="31632" bIns="31632" rIns="31632"/>
            <a:lstStyle/>
            <a:p>
              <a:pPr algn="ctr">
                <a:lnSpc>
                  <a:spcPts val="16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343102">
            <a:off x="-9065727" y="7528949"/>
            <a:ext cx="11257445" cy="10122315"/>
            <a:chOff x="0" y="0"/>
            <a:chExt cx="4761579" cy="42814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61579" cy="4281451"/>
            </a:xfrm>
            <a:custGeom>
              <a:avLst/>
              <a:gdLst/>
              <a:ahLst/>
              <a:cxnLst/>
              <a:rect r="r" b="b" t="t" l="l"/>
              <a:pathLst>
                <a:path h="4281451" w="4761579">
                  <a:moveTo>
                    <a:pt x="0" y="0"/>
                  </a:moveTo>
                  <a:lnTo>
                    <a:pt x="4761579" y="0"/>
                  </a:lnTo>
                  <a:lnTo>
                    <a:pt x="4761579" y="4281451"/>
                  </a:lnTo>
                  <a:lnTo>
                    <a:pt x="0" y="4281451"/>
                  </a:lnTo>
                  <a:close/>
                </a:path>
              </a:pathLst>
            </a:custGeom>
            <a:solidFill>
              <a:srgbClr val="FEB5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4761579" cy="4300501"/>
            </a:xfrm>
            <a:prstGeom prst="rect">
              <a:avLst/>
            </a:prstGeom>
          </p:spPr>
          <p:txBody>
            <a:bodyPr anchor="ctr" rtlCol="false" tIns="31632" lIns="31632" bIns="31632" rIns="31632"/>
            <a:lstStyle/>
            <a:p>
              <a:pPr algn="ctr">
                <a:lnSpc>
                  <a:spcPts val="16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8248896">
            <a:off x="-10020289" y="6048953"/>
            <a:ext cx="11257445" cy="10122315"/>
            <a:chOff x="0" y="0"/>
            <a:chExt cx="4761579" cy="42814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61579" cy="4281451"/>
            </a:xfrm>
            <a:custGeom>
              <a:avLst/>
              <a:gdLst/>
              <a:ahLst/>
              <a:cxnLst/>
              <a:rect r="r" b="b" t="t" l="l"/>
              <a:pathLst>
                <a:path h="4281451" w="4761579">
                  <a:moveTo>
                    <a:pt x="0" y="0"/>
                  </a:moveTo>
                  <a:lnTo>
                    <a:pt x="4761579" y="0"/>
                  </a:lnTo>
                  <a:lnTo>
                    <a:pt x="4761579" y="4281451"/>
                  </a:lnTo>
                  <a:lnTo>
                    <a:pt x="0" y="4281451"/>
                  </a:lnTo>
                  <a:close/>
                </a:path>
              </a:pathLst>
            </a:custGeom>
            <a:solidFill>
              <a:srgbClr val="F59E0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4761579" cy="4300501"/>
            </a:xfrm>
            <a:prstGeom prst="rect">
              <a:avLst/>
            </a:prstGeom>
          </p:spPr>
          <p:txBody>
            <a:bodyPr anchor="ctr" rtlCol="false" tIns="31632" lIns="31632" bIns="31632" rIns="31632"/>
            <a:lstStyle/>
            <a:p>
              <a:pPr algn="ctr">
                <a:lnSpc>
                  <a:spcPts val="16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8100000">
            <a:off x="15778450" y="-4182422"/>
            <a:ext cx="3488619" cy="9480964"/>
            <a:chOff x="0" y="0"/>
            <a:chExt cx="703896" cy="19129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3896" cy="1912967"/>
            </a:xfrm>
            <a:custGeom>
              <a:avLst/>
              <a:gdLst/>
              <a:ahLst/>
              <a:cxnLst/>
              <a:rect r="r" b="b" t="t" l="l"/>
              <a:pathLst>
                <a:path h="1912967" w="703896">
                  <a:moveTo>
                    <a:pt x="0" y="0"/>
                  </a:moveTo>
                  <a:lnTo>
                    <a:pt x="703896" y="0"/>
                  </a:lnTo>
                  <a:lnTo>
                    <a:pt x="703896" y="1912967"/>
                  </a:lnTo>
                  <a:lnTo>
                    <a:pt x="0" y="1912967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703896" cy="1970117"/>
            </a:xfrm>
            <a:prstGeom prst="rect">
              <a:avLst/>
            </a:prstGeom>
          </p:spPr>
          <p:txBody>
            <a:bodyPr anchor="ctr" rtlCol="false" tIns="78621" lIns="78621" bIns="78621" rIns="78621"/>
            <a:lstStyle/>
            <a:p>
              <a:pPr algn="ctr">
                <a:lnSpc>
                  <a:spcPts val="4116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7183646">
            <a:off x="14905786" y="-3921008"/>
            <a:ext cx="3383200" cy="6526249"/>
            <a:chOff x="0" y="0"/>
            <a:chExt cx="682626" cy="13167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2626" cy="1316796"/>
            </a:xfrm>
            <a:custGeom>
              <a:avLst/>
              <a:gdLst/>
              <a:ahLst/>
              <a:cxnLst/>
              <a:rect r="r" b="b" t="t" l="l"/>
              <a:pathLst>
                <a:path h="1316796" w="68262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2850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682626" cy="1373946"/>
            </a:xfrm>
            <a:prstGeom prst="rect">
              <a:avLst/>
            </a:prstGeom>
          </p:spPr>
          <p:txBody>
            <a:bodyPr anchor="ctr" rtlCol="false" tIns="78621" lIns="78621" bIns="78621" rIns="78621"/>
            <a:lstStyle/>
            <a:p>
              <a:pPr algn="ctr">
                <a:lnSpc>
                  <a:spcPts val="4116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9000487">
            <a:off x="16949547" y="-1990293"/>
            <a:ext cx="3383200" cy="6526249"/>
            <a:chOff x="0" y="0"/>
            <a:chExt cx="682626" cy="13167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2626" cy="1316796"/>
            </a:xfrm>
            <a:custGeom>
              <a:avLst/>
              <a:gdLst/>
              <a:ahLst/>
              <a:cxnLst/>
              <a:rect r="r" b="b" t="t" l="l"/>
              <a:pathLst>
                <a:path h="1316796" w="68262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59E0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682626" cy="1373946"/>
            </a:xfrm>
            <a:prstGeom prst="rect">
              <a:avLst/>
            </a:prstGeom>
          </p:spPr>
          <p:txBody>
            <a:bodyPr anchor="ctr" rtlCol="false" tIns="78621" lIns="78621" bIns="78621" rIns="78621"/>
            <a:lstStyle/>
            <a:p>
              <a:pPr algn="ctr">
                <a:lnSpc>
                  <a:spcPts val="4116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2700000">
            <a:off x="15534560" y="-1565489"/>
            <a:ext cx="2434593" cy="2434593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EB5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78621" lIns="78621" bIns="78621" rIns="78621"/>
            <a:lstStyle/>
            <a:p>
              <a:pPr algn="ctr">
                <a:lnSpc>
                  <a:spcPts val="4116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28700" y="1412784"/>
            <a:ext cx="15352374" cy="93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  <a:spcBef>
                <a:spcPct val="0"/>
              </a:spcBef>
            </a:pPr>
            <a:r>
              <a:rPr lang="en-US" sz="5199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One Size Does </a:t>
            </a:r>
            <a:r>
              <a:rPr lang="en-US" b="true" sz="5199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NOT </a:t>
            </a:r>
            <a:r>
              <a:rPr lang="en-US" sz="5199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Fit All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336149" y="3014254"/>
            <a:ext cx="10433810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b="true" sz="2300" spc="4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Computer Science (Dense Concepts):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466595" y="3071404"/>
            <a:ext cx="1400044" cy="1125126"/>
          </a:xfrm>
          <a:custGeom>
            <a:avLst/>
            <a:gdLst/>
            <a:ahLst/>
            <a:cxnLst/>
            <a:rect r="r" b="b" t="t" l="l"/>
            <a:pathLst>
              <a:path h="1125126" w="1400044">
                <a:moveTo>
                  <a:pt x="0" y="0"/>
                </a:moveTo>
                <a:lnTo>
                  <a:pt x="1400043" y="0"/>
                </a:lnTo>
                <a:lnTo>
                  <a:pt x="1400043" y="1125126"/>
                </a:lnTo>
                <a:lnTo>
                  <a:pt x="0" y="1125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3336149" y="3402827"/>
            <a:ext cx="10845552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b="true" sz="2100" spc="4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Selected:</a:t>
            </a:r>
            <a:r>
              <a:rPr lang="en-US" sz="2100" spc="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Multi-Query Expansion.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b="true" sz="2100" spc="4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Why:</a:t>
            </a:r>
            <a:r>
              <a:rPr lang="en-US" sz="2100" spc="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Concise concepts require synonym expansion to capture full context.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587958" y="7155884"/>
            <a:ext cx="13276252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b="true" sz="2100" spc="4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Selected: </a:t>
            </a:r>
            <a:r>
              <a:rPr lang="en-US" sz="2100" spc="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Contextual Chunk Headers.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b="true" sz="2100" spc="4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Why:</a:t>
            </a:r>
            <a:r>
              <a:rPr lang="en-US" sz="2100" spc="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Definitions rely on previous theorems; headers maintain the dependency tree.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466595" y="4976285"/>
            <a:ext cx="1699199" cy="960820"/>
          </a:xfrm>
          <a:custGeom>
            <a:avLst/>
            <a:gdLst/>
            <a:ahLst/>
            <a:cxnLst/>
            <a:rect r="r" b="b" t="t" l="l"/>
            <a:pathLst>
              <a:path h="960820" w="1699199">
                <a:moveTo>
                  <a:pt x="0" y="0"/>
                </a:moveTo>
                <a:lnTo>
                  <a:pt x="1699198" y="0"/>
                </a:lnTo>
                <a:lnTo>
                  <a:pt x="1699198" y="960820"/>
                </a:lnTo>
                <a:lnTo>
                  <a:pt x="0" y="9608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-824685">
            <a:off x="1460101" y="7145971"/>
            <a:ext cx="1916649" cy="536662"/>
          </a:xfrm>
          <a:custGeom>
            <a:avLst/>
            <a:gdLst/>
            <a:ahLst/>
            <a:cxnLst/>
            <a:rect r="r" b="b" t="t" l="l"/>
            <a:pathLst>
              <a:path h="536662" w="1916649">
                <a:moveTo>
                  <a:pt x="0" y="0"/>
                </a:moveTo>
                <a:lnTo>
                  <a:pt x="1916649" y="0"/>
                </a:lnTo>
                <a:lnTo>
                  <a:pt x="1916649" y="536662"/>
                </a:lnTo>
                <a:lnTo>
                  <a:pt x="0" y="5366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3485727" y="4860453"/>
            <a:ext cx="10433810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b="true" sz="2300" spc="4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Medicine (Standardized Terminology):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485727" y="5249026"/>
            <a:ext cx="13276252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b="true" sz="2100" spc="4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Selected: </a:t>
            </a:r>
            <a:r>
              <a:rPr lang="en-US" sz="2100" spc="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Query Expansion.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b="true" sz="2100" spc="4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Why: </a:t>
            </a:r>
            <a:r>
              <a:rPr lang="en-US" sz="2100" spc="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Synonyms add noise to precise medical terms (e.g., specific drug names).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587958" y="6767311"/>
            <a:ext cx="10433810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b="true" sz="2300" spc="4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Mathematics (Hierarchical Data):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130386">
            <a:off x="-8725851" y="7797779"/>
            <a:ext cx="11257445" cy="10122315"/>
            <a:chOff x="0" y="0"/>
            <a:chExt cx="4761579" cy="42814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61579" cy="4281451"/>
            </a:xfrm>
            <a:custGeom>
              <a:avLst/>
              <a:gdLst/>
              <a:ahLst/>
              <a:cxnLst/>
              <a:rect r="r" b="b" t="t" l="l"/>
              <a:pathLst>
                <a:path h="4281451" w="4761579">
                  <a:moveTo>
                    <a:pt x="0" y="0"/>
                  </a:moveTo>
                  <a:lnTo>
                    <a:pt x="4761579" y="0"/>
                  </a:lnTo>
                  <a:lnTo>
                    <a:pt x="4761579" y="4281451"/>
                  </a:lnTo>
                  <a:lnTo>
                    <a:pt x="0" y="428145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761579" cy="4300501"/>
            </a:xfrm>
            <a:prstGeom prst="rect">
              <a:avLst/>
            </a:prstGeom>
          </p:spPr>
          <p:txBody>
            <a:bodyPr anchor="ctr" rtlCol="false" tIns="31632" lIns="31632" bIns="31632" rIns="31632"/>
            <a:lstStyle/>
            <a:p>
              <a:pPr algn="ctr">
                <a:lnSpc>
                  <a:spcPts val="16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343102">
            <a:off x="-9065727" y="7528949"/>
            <a:ext cx="11257445" cy="10122315"/>
            <a:chOff x="0" y="0"/>
            <a:chExt cx="4761579" cy="42814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61579" cy="4281451"/>
            </a:xfrm>
            <a:custGeom>
              <a:avLst/>
              <a:gdLst/>
              <a:ahLst/>
              <a:cxnLst/>
              <a:rect r="r" b="b" t="t" l="l"/>
              <a:pathLst>
                <a:path h="4281451" w="4761579">
                  <a:moveTo>
                    <a:pt x="0" y="0"/>
                  </a:moveTo>
                  <a:lnTo>
                    <a:pt x="4761579" y="0"/>
                  </a:lnTo>
                  <a:lnTo>
                    <a:pt x="4761579" y="4281451"/>
                  </a:lnTo>
                  <a:lnTo>
                    <a:pt x="0" y="4281451"/>
                  </a:lnTo>
                  <a:close/>
                </a:path>
              </a:pathLst>
            </a:custGeom>
            <a:solidFill>
              <a:srgbClr val="FEB5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4761579" cy="4300501"/>
            </a:xfrm>
            <a:prstGeom prst="rect">
              <a:avLst/>
            </a:prstGeom>
          </p:spPr>
          <p:txBody>
            <a:bodyPr anchor="ctr" rtlCol="false" tIns="31632" lIns="31632" bIns="31632" rIns="31632"/>
            <a:lstStyle/>
            <a:p>
              <a:pPr algn="ctr">
                <a:lnSpc>
                  <a:spcPts val="16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8248896">
            <a:off x="-10020289" y="6048953"/>
            <a:ext cx="11257445" cy="10122315"/>
            <a:chOff x="0" y="0"/>
            <a:chExt cx="4761579" cy="42814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61579" cy="4281451"/>
            </a:xfrm>
            <a:custGeom>
              <a:avLst/>
              <a:gdLst/>
              <a:ahLst/>
              <a:cxnLst/>
              <a:rect r="r" b="b" t="t" l="l"/>
              <a:pathLst>
                <a:path h="4281451" w="4761579">
                  <a:moveTo>
                    <a:pt x="0" y="0"/>
                  </a:moveTo>
                  <a:lnTo>
                    <a:pt x="4761579" y="0"/>
                  </a:lnTo>
                  <a:lnTo>
                    <a:pt x="4761579" y="4281451"/>
                  </a:lnTo>
                  <a:lnTo>
                    <a:pt x="0" y="4281451"/>
                  </a:lnTo>
                  <a:close/>
                </a:path>
              </a:pathLst>
            </a:custGeom>
            <a:solidFill>
              <a:srgbClr val="F59E0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4761579" cy="4300501"/>
            </a:xfrm>
            <a:prstGeom prst="rect">
              <a:avLst/>
            </a:prstGeom>
          </p:spPr>
          <p:txBody>
            <a:bodyPr anchor="ctr" rtlCol="false" tIns="31632" lIns="31632" bIns="31632" rIns="31632"/>
            <a:lstStyle/>
            <a:p>
              <a:pPr algn="ctr">
                <a:lnSpc>
                  <a:spcPts val="16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8100000">
            <a:off x="15778450" y="-4182422"/>
            <a:ext cx="3488619" cy="9480964"/>
            <a:chOff x="0" y="0"/>
            <a:chExt cx="703896" cy="19129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3896" cy="1912967"/>
            </a:xfrm>
            <a:custGeom>
              <a:avLst/>
              <a:gdLst/>
              <a:ahLst/>
              <a:cxnLst/>
              <a:rect r="r" b="b" t="t" l="l"/>
              <a:pathLst>
                <a:path h="1912967" w="703896">
                  <a:moveTo>
                    <a:pt x="0" y="0"/>
                  </a:moveTo>
                  <a:lnTo>
                    <a:pt x="703896" y="0"/>
                  </a:lnTo>
                  <a:lnTo>
                    <a:pt x="703896" y="1912967"/>
                  </a:lnTo>
                  <a:lnTo>
                    <a:pt x="0" y="1912967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703896" cy="1970117"/>
            </a:xfrm>
            <a:prstGeom prst="rect">
              <a:avLst/>
            </a:prstGeom>
          </p:spPr>
          <p:txBody>
            <a:bodyPr anchor="ctr" rtlCol="false" tIns="78621" lIns="78621" bIns="78621" rIns="78621"/>
            <a:lstStyle/>
            <a:p>
              <a:pPr algn="ctr">
                <a:lnSpc>
                  <a:spcPts val="4116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7183646">
            <a:off x="14905786" y="-3921008"/>
            <a:ext cx="3383200" cy="6526249"/>
            <a:chOff x="0" y="0"/>
            <a:chExt cx="682626" cy="13167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2626" cy="1316796"/>
            </a:xfrm>
            <a:custGeom>
              <a:avLst/>
              <a:gdLst/>
              <a:ahLst/>
              <a:cxnLst/>
              <a:rect r="r" b="b" t="t" l="l"/>
              <a:pathLst>
                <a:path h="1316796" w="68262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2850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682626" cy="1373946"/>
            </a:xfrm>
            <a:prstGeom prst="rect">
              <a:avLst/>
            </a:prstGeom>
          </p:spPr>
          <p:txBody>
            <a:bodyPr anchor="ctr" rtlCol="false" tIns="78621" lIns="78621" bIns="78621" rIns="78621"/>
            <a:lstStyle/>
            <a:p>
              <a:pPr algn="ctr">
                <a:lnSpc>
                  <a:spcPts val="4116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9000487">
            <a:off x="16949547" y="-1990293"/>
            <a:ext cx="3383200" cy="6526249"/>
            <a:chOff x="0" y="0"/>
            <a:chExt cx="682626" cy="13167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2626" cy="1316796"/>
            </a:xfrm>
            <a:custGeom>
              <a:avLst/>
              <a:gdLst/>
              <a:ahLst/>
              <a:cxnLst/>
              <a:rect r="r" b="b" t="t" l="l"/>
              <a:pathLst>
                <a:path h="1316796" w="68262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59E0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682626" cy="1373946"/>
            </a:xfrm>
            <a:prstGeom prst="rect">
              <a:avLst/>
            </a:prstGeom>
          </p:spPr>
          <p:txBody>
            <a:bodyPr anchor="ctr" rtlCol="false" tIns="78621" lIns="78621" bIns="78621" rIns="78621"/>
            <a:lstStyle/>
            <a:p>
              <a:pPr algn="ctr">
                <a:lnSpc>
                  <a:spcPts val="4116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2700000">
            <a:off x="15534560" y="-1565489"/>
            <a:ext cx="2434593" cy="2434593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EB5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78621" lIns="78621" bIns="78621" rIns="78621"/>
            <a:lstStyle/>
            <a:p>
              <a:pPr algn="ctr">
                <a:lnSpc>
                  <a:spcPts val="4116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28700" y="1594483"/>
            <a:ext cx="15352374" cy="93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  <a:spcBef>
                <a:spcPct val="0"/>
              </a:spcBef>
            </a:pPr>
            <a:r>
              <a:rPr lang="en-US" sz="5199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Quantitative Results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3291203"/>
            <a:ext cx="11810841" cy="453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b="true" sz="2603" spc="5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Performance Gains: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3721534"/>
            <a:ext cx="12276923" cy="856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3229" indent="-256615" lvl="1">
              <a:lnSpc>
                <a:spcPts val="3328"/>
              </a:lnSpc>
              <a:buFont typeface="Arial"/>
              <a:buChar char="•"/>
            </a:pPr>
            <a:r>
              <a:rPr lang="en-US" b="true" sz="2377" spc="4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Average: </a:t>
            </a:r>
            <a:r>
              <a:rPr lang="en-US" sz="2377" spc="4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+3.8% improvement over Naive RAG Baseline</a:t>
            </a:r>
          </a:p>
          <a:p>
            <a:pPr algn="l" marL="513229" indent="-256615" lvl="1">
              <a:lnSpc>
                <a:spcPts val="3328"/>
              </a:lnSpc>
              <a:buFont typeface="Arial"/>
              <a:buChar char="•"/>
            </a:pPr>
            <a:r>
              <a:rPr lang="en-US" b="true" sz="2377" spc="4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Max Gain:</a:t>
            </a:r>
            <a:r>
              <a:rPr lang="en-US" sz="2377" spc="4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+12.5% in specific retrieval tasks (Recall@K)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5324475"/>
            <a:ext cx="11810841" cy="453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2603" spc="5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Question Type Breakdown: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5754806"/>
            <a:ext cx="12276923" cy="856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3229" indent="-256615" lvl="1">
              <a:lnSpc>
                <a:spcPts val="3328"/>
              </a:lnSpc>
              <a:buFont typeface="Arial"/>
              <a:buChar char="•"/>
            </a:pPr>
            <a:r>
              <a:rPr lang="en-US" b="true" sz="2377" spc="4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Factual &amp; Long-Answer: </a:t>
            </a:r>
            <a:r>
              <a:rPr lang="en-US" sz="2377" spc="4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Significant improvements (+5-7%).</a:t>
            </a:r>
          </a:p>
          <a:p>
            <a:pPr algn="l" marL="513229" indent="-256615" lvl="1">
              <a:lnSpc>
                <a:spcPts val="3328"/>
              </a:lnSpc>
              <a:buFont typeface="Arial"/>
              <a:buChar char="•"/>
            </a:pPr>
            <a:r>
              <a:rPr lang="en-US" b="true" sz="2377" spc="4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Interpretation: </a:t>
            </a:r>
            <a:r>
              <a:rPr lang="en-US" sz="2377" spc="4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Marginal improvements.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927095" y="7373629"/>
            <a:ext cx="10433810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b="true" sz="2599" spc="51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Insight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749306" y="7812414"/>
            <a:ext cx="14789387" cy="434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1"/>
              </a:lnSpc>
            </a:pPr>
            <a:r>
              <a:rPr lang="en-US" b="true" sz="2379" spc="4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Interpretation" questions are bottlenecked by Reasoning Capabilities, not Retrieval quality.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130386">
            <a:off x="-8725851" y="7797779"/>
            <a:ext cx="11257445" cy="10122315"/>
            <a:chOff x="0" y="0"/>
            <a:chExt cx="4761579" cy="42814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61579" cy="4281451"/>
            </a:xfrm>
            <a:custGeom>
              <a:avLst/>
              <a:gdLst/>
              <a:ahLst/>
              <a:cxnLst/>
              <a:rect r="r" b="b" t="t" l="l"/>
              <a:pathLst>
                <a:path h="4281451" w="4761579">
                  <a:moveTo>
                    <a:pt x="0" y="0"/>
                  </a:moveTo>
                  <a:lnTo>
                    <a:pt x="4761579" y="0"/>
                  </a:lnTo>
                  <a:lnTo>
                    <a:pt x="4761579" y="4281451"/>
                  </a:lnTo>
                  <a:lnTo>
                    <a:pt x="0" y="428145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761579" cy="4300501"/>
            </a:xfrm>
            <a:prstGeom prst="rect">
              <a:avLst/>
            </a:prstGeom>
          </p:spPr>
          <p:txBody>
            <a:bodyPr anchor="ctr" rtlCol="false" tIns="31632" lIns="31632" bIns="31632" rIns="31632"/>
            <a:lstStyle/>
            <a:p>
              <a:pPr algn="ctr">
                <a:lnSpc>
                  <a:spcPts val="16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343102">
            <a:off x="-9065727" y="7528949"/>
            <a:ext cx="11257445" cy="10122315"/>
            <a:chOff x="0" y="0"/>
            <a:chExt cx="4761579" cy="42814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61579" cy="4281451"/>
            </a:xfrm>
            <a:custGeom>
              <a:avLst/>
              <a:gdLst/>
              <a:ahLst/>
              <a:cxnLst/>
              <a:rect r="r" b="b" t="t" l="l"/>
              <a:pathLst>
                <a:path h="4281451" w="4761579">
                  <a:moveTo>
                    <a:pt x="0" y="0"/>
                  </a:moveTo>
                  <a:lnTo>
                    <a:pt x="4761579" y="0"/>
                  </a:lnTo>
                  <a:lnTo>
                    <a:pt x="4761579" y="4281451"/>
                  </a:lnTo>
                  <a:lnTo>
                    <a:pt x="0" y="4281451"/>
                  </a:lnTo>
                  <a:close/>
                </a:path>
              </a:pathLst>
            </a:custGeom>
            <a:solidFill>
              <a:srgbClr val="FEB5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4761579" cy="4300501"/>
            </a:xfrm>
            <a:prstGeom prst="rect">
              <a:avLst/>
            </a:prstGeom>
          </p:spPr>
          <p:txBody>
            <a:bodyPr anchor="ctr" rtlCol="false" tIns="31632" lIns="31632" bIns="31632" rIns="31632"/>
            <a:lstStyle/>
            <a:p>
              <a:pPr algn="ctr">
                <a:lnSpc>
                  <a:spcPts val="16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8248896">
            <a:off x="-10020289" y="6048953"/>
            <a:ext cx="11257445" cy="10122315"/>
            <a:chOff x="0" y="0"/>
            <a:chExt cx="4761579" cy="42814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61579" cy="4281451"/>
            </a:xfrm>
            <a:custGeom>
              <a:avLst/>
              <a:gdLst/>
              <a:ahLst/>
              <a:cxnLst/>
              <a:rect r="r" b="b" t="t" l="l"/>
              <a:pathLst>
                <a:path h="4281451" w="4761579">
                  <a:moveTo>
                    <a:pt x="0" y="0"/>
                  </a:moveTo>
                  <a:lnTo>
                    <a:pt x="4761579" y="0"/>
                  </a:lnTo>
                  <a:lnTo>
                    <a:pt x="4761579" y="4281451"/>
                  </a:lnTo>
                  <a:lnTo>
                    <a:pt x="0" y="4281451"/>
                  </a:lnTo>
                  <a:close/>
                </a:path>
              </a:pathLst>
            </a:custGeom>
            <a:solidFill>
              <a:srgbClr val="F59E0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4761579" cy="4300501"/>
            </a:xfrm>
            <a:prstGeom prst="rect">
              <a:avLst/>
            </a:prstGeom>
          </p:spPr>
          <p:txBody>
            <a:bodyPr anchor="ctr" rtlCol="false" tIns="31632" lIns="31632" bIns="31632" rIns="31632"/>
            <a:lstStyle/>
            <a:p>
              <a:pPr algn="ctr">
                <a:lnSpc>
                  <a:spcPts val="16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8100000">
            <a:off x="15778450" y="-4182422"/>
            <a:ext cx="3488619" cy="9480964"/>
            <a:chOff x="0" y="0"/>
            <a:chExt cx="703896" cy="19129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3896" cy="1912967"/>
            </a:xfrm>
            <a:custGeom>
              <a:avLst/>
              <a:gdLst/>
              <a:ahLst/>
              <a:cxnLst/>
              <a:rect r="r" b="b" t="t" l="l"/>
              <a:pathLst>
                <a:path h="1912967" w="703896">
                  <a:moveTo>
                    <a:pt x="0" y="0"/>
                  </a:moveTo>
                  <a:lnTo>
                    <a:pt x="703896" y="0"/>
                  </a:lnTo>
                  <a:lnTo>
                    <a:pt x="703896" y="1912967"/>
                  </a:lnTo>
                  <a:lnTo>
                    <a:pt x="0" y="1912967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703896" cy="1970117"/>
            </a:xfrm>
            <a:prstGeom prst="rect">
              <a:avLst/>
            </a:prstGeom>
          </p:spPr>
          <p:txBody>
            <a:bodyPr anchor="ctr" rtlCol="false" tIns="78621" lIns="78621" bIns="78621" rIns="78621"/>
            <a:lstStyle/>
            <a:p>
              <a:pPr algn="ctr">
                <a:lnSpc>
                  <a:spcPts val="4116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7183646">
            <a:off x="14905786" y="-3921008"/>
            <a:ext cx="3383200" cy="6526249"/>
            <a:chOff x="0" y="0"/>
            <a:chExt cx="682626" cy="13167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2626" cy="1316796"/>
            </a:xfrm>
            <a:custGeom>
              <a:avLst/>
              <a:gdLst/>
              <a:ahLst/>
              <a:cxnLst/>
              <a:rect r="r" b="b" t="t" l="l"/>
              <a:pathLst>
                <a:path h="1316796" w="68262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2850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682626" cy="1373946"/>
            </a:xfrm>
            <a:prstGeom prst="rect">
              <a:avLst/>
            </a:prstGeom>
          </p:spPr>
          <p:txBody>
            <a:bodyPr anchor="ctr" rtlCol="false" tIns="78621" lIns="78621" bIns="78621" rIns="78621"/>
            <a:lstStyle/>
            <a:p>
              <a:pPr algn="ctr">
                <a:lnSpc>
                  <a:spcPts val="4116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9000487">
            <a:off x="16949547" y="-1990293"/>
            <a:ext cx="3383200" cy="6526249"/>
            <a:chOff x="0" y="0"/>
            <a:chExt cx="682626" cy="13167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2626" cy="1316796"/>
            </a:xfrm>
            <a:custGeom>
              <a:avLst/>
              <a:gdLst/>
              <a:ahLst/>
              <a:cxnLst/>
              <a:rect r="r" b="b" t="t" l="l"/>
              <a:pathLst>
                <a:path h="1316796" w="68262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59E0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682626" cy="1373946"/>
            </a:xfrm>
            <a:prstGeom prst="rect">
              <a:avLst/>
            </a:prstGeom>
          </p:spPr>
          <p:txBody>
            <a:bodyPr anchor="ctr" rtlCol="false" tIns="78621" lIns="78621" bIns="78621" rIns="78621"/>
            <a:lstStyle/>
            <a:p>
              <a:pPr algn="ctr">
                <a:lnSpc>
                  <a:spcPts val="4116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2700000">
            <a:off x="15534560" y="-1565489"/>
            <a:ext cx="2434593" cy="2434593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EB5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78621" lIns="78621" bIns="78621" rIns="78621"/>
            <a:lstStyle/>
            <a:p>
              <a:pPr algn="ctr">
                <a:lnSpc>
                  <a:spcPts val="4116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28700" y="1554023"/>
            <a:ext cx="15352374" cy="93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  <a:spcBef>
                <a:spcPct val="0"/>
              </a:spcBef>
            </a:pPr>
            <a:r>
              <a:rPr lang="en-US" sz="5199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Summary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3041193"/>
            <a:ext cx="10433810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There is no "One Size Fits All" RAG pipeline.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Architecture must be tuned to the specific "DNA" of the dataset</a:t>
            </a:r>
            <a:r>
              <a:rPr lang="en-US" sz="2300" spc="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4435335"/>
            <a:ext cx="1043381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 spc="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 Shift: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4857610"/>
            <a:ext cx="11865578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From Manual Engineering → Automated Evolution (AutoML).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5851703"/>
            <a:ext cx="1043381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 spc="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Recommendations: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6273978"/>
            <a:ext cx="11865578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Start with the "Robust Backbone" (Vector + Reflection).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 frameworks like RAGSmith to tune the rest.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DAG6O-aqmOk</dc:identifier>
  <dcterms:modified xsi:type="dcterms:W3CDTF">2011-08-01T06:04:30Z</dcterms:modified>
  <cp:revision>1</cp:revision>
  <dc:title>RAGSmith-Short story presentation</dc:title>
</cp:coreProperties>
</file>